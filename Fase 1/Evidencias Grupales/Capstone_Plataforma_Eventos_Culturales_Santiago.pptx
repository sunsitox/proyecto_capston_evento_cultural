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4LaDwWFmyKNDJz5GGhCck0nDn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4" name="Google Shape;3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9" name="Google Shape;89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0" name="Google Shape;9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3.xml"/><Relationship Id="rId10" Type="http://schemas.openxmlformats.org/officeDocument/2006/relationships/slide" Target="/ppt/slides/slide10.xml"/><Relationship Id="rId13" Type="http://schemas.openxmlformats.org/officeDocument/2006/relationships/slide" Target="/ppt/slides/slide15.xml"/><Relationship Id="rId12" Type="http://schemas.openxmlformats.org/officeDocument/2006/relationships/slide" Target="/ppt/slides/slide1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4.xml"/><Relationship Id="rId9" Type="http://schemas.openxmlformats.org/officeDocument/2006/relationships/slide" Target="/ppt/slides/slide11.xml"/><Relationship Id="rId15" Type="http://schemas.openxmlformats.org/officeDocument/2006/relationships/slide" Target="/ppt/slides/slide8.xml"/><Relationship Id="rId14" Type="http://schemas.openxmlformats.org/officeDocument/2006/relationships/slide" Target="/ppt/slides/slide16.xml"/><Relationship Id="rId17" Type="http://schemas.openxmlformats.org/officeDocument/2006/relationships/slide" Target="/ppt/slides/slide7.xml"/><Relationship Id="rId16" Type="http://schemas.openxmlformats.org/officeDocument/2006/relationships/slide" Target="/ppt/slides/slide8.xml"/><Relationship Id="rId5" Type="http://schemas.openxmlformats.org/officeDocument/2006/relationships/slide" Target="/ppt/slides/slide4.xml"/><Relationship Id="rId19" Type="http://schemas.openxmlformats.org/officeDocument/2006/relationships/slide" Target="/ppt/slides/slide18.xml"/><Relationship Id="rId6" Type="http://schemas.openxmlformats.org/officeDocument/2006/relationships/slide" Target="/ppt/slides/slide5.xml"/><Relationship Id="rId18" Type="http://schemas.openxmlformats.org/officeDocument/2006/relationships/slide" Target="/ppt/slides/slide17.xml"/><Relationship Id="rId7" Type="http://schemas.openxmlformats.org/officeDocument/2006/relationships/slide" Target="/ppt/slides/slide10.xml"/><Relationship Id="rId8" Type="http://schemas.openxmlformats.org/officeDocument/2006/relationships/slide" Target="/ppt/slides/slide6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8153400" y="958924"/>
            <a:ext cx="3434180" cy="748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100"/>
              <a:t>Plataforma de Eventos</a:t>
            </a:r>
            <a:br>
              <a:rPr lang="en-US" sz="3100"/>
            </a:br>
            <a:r>
              <a:rPr lang="en-US" sz="3100"/>
              <a:t>Culturales de Santiago</a:t>
            </a:r>
            <a:br>
              <a:rPr lang="en-US" sz="2700"/>
            </a:br>
            <a:endParaRPr sz="2700"/>
          </a:p>
        </p:txBody>
      </p:sp>
      <p:pic>
        <p:nvPicPr>
          <p:cNvPr descr="Vista de una ciudad por la noche" id="98" name="Google Shape;98;p1"/>
          <p:cNvPicPr preferRelativeResize="0"/>
          <p:nvPr/>
        </p:nvPicPr>
        <p:blipFill rotWithShape="1">
          <a:blip r:embed="rId3">
            <a:alphaModFix/>
          </a:blip>
          <a:srcRect b="-1" l="14955" r="11339" t="0"/>
          <a:stretch/>
        </p:blipFill>
        <p:spPr>
          <a:xfrm>
            <a:off x="-9886" y="10"/>
            <a:ext cx="7572605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"/>
          <p:cNvCxnSpPr/>
          <p:nvPr/>
        </p:nvCxnSpPr>
        <p:spPr>
          <a:xfrm>
            <a:off x="8199390" y="871146"/>
            <a:ext cx="736939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8153400" y="1933576"/>
            <a:ext cx="3434180" cy="444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</a:rPr>
              <a:t>Integrantes:</a:t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-Roberto Riffo</a:t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-José Moncada</a:t>
            </a:r>
            <a:br>
              <a:rPr lang="en-US" sz="2800">
                <a:solidFill>
                  <a:schemeClr val="dk1"/>
                </a:solidFill>
              </a:rPr>
            </a:br>
            <a:r>
              <a:rPr lang="en-US" sz="2800">
                <a:solidFill>
                  <a:schemeClr val="dk1"/>
                </a:solidFill>
              </a:rPr>
              <a:t>-David Herrera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</a:rPr>
              <a:t>Santiago, Chile · 2026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</a:rPr>
              <a:t>Docente:Aldo Alberto Martinez Ordenes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</a:rPr>
              <a:t>Fecha: 21/08/2026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</a:rPr>
              <a:t>Asignatura:Capstone </a:t>
            </a:r>
            <a:endParaRPr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6199" y="10"/>
            <a:ext cx="2438401" cy="808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Indice 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457200" y="1600200"/>
            <a:ext cx="1075157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7200" u="sng">
                <a:solidFill>
                  <a:schemeClr val="hlink"/>
                </a:solidFill>
                <a:hlinkClick action="ppaction://hlinksldjump" r:id="rId3"/>
              </a:rPr>
              <a:t>Introduccion</a:t>
            </a:r>
            <a:r>
              <a:rPr lang="en-US" sz="7200" u="sng"/>
              <a:t>										                                                1</a:t>
            </a:r>
            <a:endParaRPr sz="72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9600" u="sng">
                <a:solidFill>
                  <a:srgbClr val="0C0C0C"/>
                </a:solidFill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Contexto y problema</a:t>
            </a:r>
            <a:r>
              <a:rPr lang="en-US" sz="7200" u="sng">
                <a:solidFill>
                  <a:srgbClr val="0C0C0C"/>
                </a:solidFill>
              </a:rPr>
              <a:t>							                                                2 </a:t>
            </a:r>
            <a:r>
              <a:rPr lang="en-US" sz="7200" u="sng">
                <a:solidFill>
                  <a:srgbClr val="0C0C0C"/>
                </a:solidFill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7200">
              <a:solidFill>
                <a:srgbClr val="0C0C0C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9600" u="sng">
                <a:solidFill>
                  <a:srgbClr val="0C0C0C"/>
                </a:solidFill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Oportunidad de la solución</a:t>
            </a:r>
            <a:r>
              <a:rPr lang="en-US" sz="6400" u="sng">
                <a:solidFill>
                  <a:srgbClr val="0C0C0C"/>
                </a:solidFill>
              </a:rPr>
              <a:t>		                                                                3                                 </a:t>
            </a:r>
            <a:endParaRPr sz="6400">
              <a:solidFill>
                <a:srgbClr val="0C0C0C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b="1" lang="en-US" sz="8000" u="sng">
                <a:solidFill>
                  <a:srgbClr val="0C0C0C"/>
                </a:solidFill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Situación Real y Oportunidad del Entorno</a:t>
            </a:r>
            <a:r>
              <a:rPr lang="en-US" sz="8000" u="sng">
                <a:solidFill>
                  <a:srgbClr val="0C0C0C"/>
                </a:solidFill>
              </a:rPr>
              <a:t>					                           4</a:t>
            </a:r>
            <a:endParaRPr sz="8000">
              <a:solidFill>
                <a:srgbClr val="0C0C0C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8000" u="sng">
                <a:solidFill>
                  <a:srgbClr val="0C0C0C"/>
                </a:solidFill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Nuestra solución</a:t>
            </a:r>
            <a:r>
              <a:rPr lang="en-US" sz="8000" u="sng">
                <a:solidFill>
                  <a:srgbClr val="0C0C0C"/>
                </a:solidFill>
              </a:rPr>
              <a:t>					                                   5</a:t>
            </a:r>
            <a:endParaRPr sz="8000">
              <a:solidFill>
                <a:srgbClr val="0C0C0C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8000" u="sng">
                <a:solidFill>
                  <a:srgbClr val="0C0C0C"/>
                </a:solidFill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Funciones de la app</a:t>
            </a:r>
            <a:r>
              <a:rPr lang="en-US" sz="8000" u="sng">
                <a:solidFill>
                  <a:srgbClr val="0C0C0C"/>
                </a:solidFill>
              </a:rPr>
              <a:t>			                         	                                   6</a:t>
            </a:r>
            <a:endParaRPr sz="8000">
              <a:solidFill>
                <a:srgbClr val="0C0C0C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8000" u="sng">
                <a:solidFill>
                  <a:srgbClr val="0C0C0C"/>
                </a:solidFill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Funcionalidades principales</a:t>
            </a:r>
            <a:r>
              <a:rPr lang="en-US" sz="8000" u="sng">
                <a:solidFill>
                  <a:srgbClr val="0C0C0C"/>
                </a:solidFill>
              </a:rPr>
              <a:t>						                                                   7</a:t>
            </a:r>
            <a:endParaRPr sz="8000">
              <a:solidFill>
                <a:srgbClr val="0C0C0C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8000" u="sng">
                <a:solidFill>
                  <a:srgbClr val="0C0C0C"/>
                </a:solidFill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Arquitectura propuesta </a:t>
            </a:r>
            <a:r>
              <a:rPr lang="en-US" sz="8000" u="sng">
                <a:solidFill>
                  <a:srgbClr val="0C0C0C"/>
                </a:solidFill>
              </a:rPr>
              <a:t>							                                           8</a:t>
            </a:r>
            <a:endParaRPr sz="8000">
              <a:solidFill>
                <a:srgbClr val="0C0C0C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8000" u="sng">
                <a:solidFill>
                  <a:srgbClr val="0C0C0C"/>
                </a:solidFill>
                <a:hlinkClick action="ppaction://hlinksldjump"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Integracion de APIs y fuentes externas  </a:t>
            </a:r>
            <a:r>
              <a:rPr lang="en-US" sz="8000" u="sng">
                <a:solidFill>
                  <a:srgbClr val="0C0C0C"/>
                </a:solidFill>
              </a:rPr>
              <a:t>		                                                   9</a:t>
            </a:r>
            <a:endParaRPr sz="8000">
              <a:solidFill>
                <a:srgbClr val="0C0C0C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8000" u="sng">
                <a:solidFill>
                  <a:srgbClr val="0C0C0C"/>
                </a:solidFill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Datos que manejara la plataforma </a:t>
            </a:r>
            <a:r>
              <a:rPr lang="en-US" sz="8000" u="sng">
                <a:solidFill>
                  <a:srgbClr val="0C0C0C"/>
                </a:solidFill>
              </a:rPr>
              <a:t>			                                  10</a:t>
            </a:r>
            <a:endParaRPr sz="8000">
              <a:solidFill>
                <a:srgbClr val="0C0C0C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9600" u="sng">
                <a:solidFill>
                  <a:srgbClr val="0C0C0C"/>
                </a:solidFill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Flujo de datos de las APIs</a:t>
            </a:r>
            <a:r>
              <a:rPr lang="en-US" sz="11200" u="sng">
                <a:solidFill>
                  <a:srgbClr val="0C0C0C"/>
                </a:solidFill>
              </a:rPr>
              <a:t>							                        </a:t>
            </a:r>
            <a:r>
              <a:rPr lang="en-US" sz="8000" u="sng">
                <a:solidFill>
                  <a:srgbClr val="0C0C0C"/>
                </a:solidFill>
              </a:rPr>
              <a:t>11</a:t>
            </a:r>
            <a:endParaRPr sz="7200">
              <a:solidFill>
                <a:srgbClr val="0C0C0C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8000" u="sng">
                <a:solidFill>
                  <a:srgbClr val="0C0C0C"/>
                </a:solidFill>
                <a:hlinkClick action="ppaction://hlinksldjump"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Metodología de </a:t>
            </a:r>
            <a:r>
              <a:rPr lang="en-US" sz="8000" u="sng">
                <a:solidFill>
                  <a:schemeClr val="hlink"/>
                </a:solidFill>
                <a:hlinkClick action="ppaction://hlinksldjump" r:id="rId16"/>
              </a:rPr>
              <a:t>trabajo</a:t>
            </a:r>
            <a:r>
              <a:rPr lang="en-US" sz="8000" u="sng"/>
              <a:t>								                                  12</a:t>
            </a:r>
            <a:endParaRPr sz="8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 u="sng">
                <a:solidFill>
                  <a:schemeClr val="hlink"/>
                </a:solidFill>
                <a:hlinkClick action="ppaction://hlinksldjump" r:id="rId17"/>
              </a:rPr>
              <a:t>Flujo de trabajo </a:t>
            </a:r>
            <a:r>
              <a:rPr lang="en-US" sz="8000" u="sng"/>
              <a:t>										                                  13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 u="sng">
                <a:solidFill>
                  <a:schemeClr val="hlink"/>
                </a:solidFill>
                <a:hlinkClick action="ppaction://hlinksldjump" r:id="rId18"/>
              </a:rPr>
              <a:t>Mockup</a:t>
            </a:r>
            <a:r>
              <a:rPr lang="en-US" sz="8000" u="sng"/>
              <a:t>									 							  14</a:t>
            </a:r>
            <a:endParaRPr sz="8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 u="sng">
                <a:solidFill>
                  <a:schemeClr val="hlink"/>
                </a:solidFill>
                <a:hlinkClick action="ppaction://hlinksldjump" r:id="rId19"/>
              </a:rPr>
              <a:t>Conclusión</a:t>
            </a:r>
            <a:r>
              <a:rPr lang="en-US" sz="8000"/>
              <a:t> </a:t>
            </a:r>
            <a:r>
              <a:rPr lang="en-US" sz="8000" u="sng"/>
              <a:t>										                                          15</a:t>
            </a:r>
            <a:endParaRPr sz="8000"/>
          </a:p>
          <a:p>
            <a:pPr indent="-238125" lvl="0" marL="342900" rtl="0" algn="l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6600" u="sng"/>
          </a:p>
          <a:p>
            <a:pPr indent="-238125" lvl="0" marL="342900" rtl="0" algn="l"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6600"/>
          </a:p>
          <a:p>
            <a:pPr indent="-2921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>
            <p:ph type="ctrTitle"/>
          </p:nvPr>
        </p:nvSpPr>
        <p:spPr>
          <a:xfrm>
            <a:off x="6367461" y="728664"/>
            <a:ext cx="4984813" cy="1029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US" sz="5200"/>
              <a:t>Introduccion </a:t>
            </a:r>
            <a:endParaRPr sz="5200"/>
          </a:p>
        </p:txBody>
      </p:sp>
      <p:sp>
        <p:nvSpPr>
          <p:cNvPr id="114" name="Google Shape;114;p3"/>
          <p:cNvSpPr txBox="1"/>
          <p:nvPr>
            <p:ph idx="1" type="subTitle"/>
          </p:nvPr>
        </p:nvSpPr>
        <p:spPr>
          <a:xfrm>
            <a:off x="6367461" y="2082801"/>
            <a:ext cx="4984813" cy="4046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proyecto consiste en una aplicación de eventos culturales en Chile que visibiliza las actividades más relevantes de la zona. Permite a los usuarios buscar y filtrar eventos según sus intereses personales (como música, teatro, arte o patrimonio), facilitando el acceso a la cultura local y potenciando la participación comunitaria.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descr="Calendario vacío con lápiz" id="115" name="Google Shape;115;p3"/>
          <p:cNvPicPr preferRelativeResize="0"/>
          <p:nvPr/>
        </p:nvPicPr>
        <p:blipFill rotWithShape="1">
          <a:blip r:embed="rId3">
            <a:alphaModFix/>
          </a:blip>
          <a:srcRect b="-1" l="41548" r="-1" t="0"/>
          <a:stretch/>
        </p:blipFill>
        <p:spPr>
          <a:xfrm>
            <a:off x="1" y="10"/>
            <a:ext cx="6005512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>
            <p:ph type="title"/>
          </p:nvPr>
        </p:nvSpPr>
        <p:spPr>
          <a:xfrm>
            <a:off x="640080" y="325369"/>
            <a:ext cx="4368602" cy="128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5400"/>
              <a:t>Contexto y problema</a:t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640080" y="2722880"/>
            <a:ext cx="4470400" cy="386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300"/>
              <a:t>Una experiencia cultural actualmente fragmentada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300"/>
              <a:t>Actualmente, la información sobre eventos culturales en Santiago se encuentra distribuida entre diferentes agendas, instituciones, plataformas y sitios web.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300"/>
              <a:t>Esta situación dificulta que las personas puedan descubrir actividades de acuerdo con sus intereses, ubicación y disponibilidad.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300"/>
              <a:t>Además, los eventos organizados por instituciones y organizaciones locales pueden tener una menor visibilidad al encontrarse dispersos en diferentes canales.</a:t>
            </a:r>
            <a:endParaRPr/>
          </a:p>
          <a:p>
            <a:pPr indent="-278130" lvl="0" marL="342900" rtl="0" algn="l">
              <a:lnSpc>
                <a:spcPct val="90000"/>
              </a:lnSpc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200"/>
          </a:p>
        </p:txBody>
      </p:sp>
      <p:pic>
        <p:nvPicPr>
          <p:cNvPr descr="Empleado de oficina buscando archivos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5684" r="19089" t="0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>
            <p:ph type="ctr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Oportunidad de la solución</a:t>
            </a:r>
            <a:endParaRPr sz="5400"/>
          </a:p>
        </p:txBody>
      </p:sp>
      <p:sp>
        <p:nvSpPr>
          <p:cNvPr id="131" name="Google Shape;131;p5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>
            <p:ph idx="1" type="subTitle"/>
          </p:nvPr>
        </p:nvSpPr>
        <p:spPr>
          <a:xfrm>
            <a:off x="640080" y="2872899"/>
            <a:ext cx="4243589" cy="373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2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2900">
                <a:solidFill>
                  <a:schemeClr val="dk1"/>
                </a:solidFill>
              </a:rPr>
              <a:t>¿Qué oportunidad estamos abordando?</a:t>
            </a:r>
            <a:endParaRPr/>
          </a:p>
          <a:p>
            <a:pPr indent="-32" lvl="0" marL="0" rtl="0" algn="l">
              <a:lnSpc>
                <a:spcPct val="9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</a:rPr>
              <a:t>La propuesta busca transformar información cultural dispersa en una experiencia digital simple y accesible.</a:t>
            </a:r>
            <a:endParaRPr/>
          </a:p>
          <a:p>
            <a:pPr indent="-32" lvl="0" marL="0" rtl="0" algn="l">
              <a:lnSpc>
                <a:spcPct val="9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</a:rPr>
              <a:t>La plataforma permitirá:</a:t>
            </a:r>
            <a:endParaRPr/>
          </a:p>
          <a:p>
            <a:pPr indent="-32" lvl="0" marL="0" rtl="0" algn="l">
              <a:lnSpc>
                <a:spcPct val="9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</a:rPr>
              <a:t>Centralizar información de diferentes fuentes. </a:t>
            </a:r>
            <a:endParaRPr/>
          </a:p>
          <a:p>
            <a:pPr indent="-32" lvl="0" marL="0" rtl="0" algn="l">
              <a:lnSpc>
                <a:spcPct val="9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</a:rPr>
              <a:t>Facilitar la búsqueda de actividades culturales. </a:t>
            </a:r>
            <a:endParaRPr/>
          </a:p>
          <a:p>
            <a:pPr indent="-32" lvl="0" marL="0" rtl="0" algn="l">
              <a:lnSpc>
                <a:spcPct val="9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</a:rPr>
              <a:t>Filtrar eventos según las necesidades del usuario. </a:t>
            </a:r>
            <a:endParaRPr/>
          </a:p>
          <a:p>
            <a:pPr indent="-32" lvl="0" marL="0" rtl="0" algn="l">
              <a:lnSpc>
                <a:spcPct val="9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</a:rPr>
              <a:t>Mejorar la visibilidad de eventos locales. </a:t>
            </a:r>
            <a:endParaRPr/>
          </a:p>
          <a:p>
            <a:pPr indent="-32" lvl="0" marL="0" rtl="0" algn="l">
              <a:lnSpc>
                <a:spcPct val="90000"/>
              </a:lnSpc>
              <a:spcBef>
                <a:spcPts val="36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900">
                <a:solidFill>
                  <a:schemeClr val="dk1"/>
                </a:solidFill>
              </a:rPr>
              <a:t>Preparar la solución para incorporar nuevas fuentes de información.</a:t>
            </a:r>
            <a:endParaRPr/>
          </a:p>
          <a:p>
            <a:pPr indent="59500" lvl="0" marL="0" rtl="0" algn="l">
              <a:lnSpc>
                <a:spcPct val="90000"/>
              </a:lnSpc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descr="Oficina vacía con mesa redonda" id="133" name="Google Shape;133;p5"/>
          <p:cNvPicPr preferRelativeResize="0"/>
          <p:nvPr/>
        </p:nvPicPr>
        <p:blipFill rotWithShape="1">
          <a:blip r:embed="rId3">
            <a:alphaModFix/>
          </a:blip>
          <a:srcRect b="-1" l="27247" r="5800" t="0"/>
          <a:stretch/>
        </p:blipFill>
        <p:spPr>
          <a:xfrm>
            <a:off x="5311702" y="10"/>
            <a:ext cx="6878775" cy="6857990"/>
          </a:xfrm>
          <a:custGeom>
            <a:rect b="b" l="l" r="r" t="t"/>
            <a:pathLst>
              <a:path extrusionOk="0" h="6858000" w="6878775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>
            <p:ph type="ctr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Nuestra solución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1" name="Google Shape;141;p6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>
            <p:ph idx="1" type="subTitle"/>
          </p:nvPr>
        </p:nvSpPr>
        <p:spPr>
          <a:xfrm>
            <a:off x="4447308" y="600869"/>
            <a:ext cx="7277967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Una plataforma única para descubrir eventos culturales</a:t>
            </a:r>
            <a:endParaRPr sz="2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Proponemos desarrollar una plataforma web que permita a los usuarios encontrar y consultar eventos culturales de Santiago desde un solo lugar.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La solución estará enfocada inicialmente en actividades como: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Música.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Teatro.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Arte.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Patrimonio.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Actividades culturales comunales.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Otros eventos disponibles en las fuentes integradas.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</a:rPr>
              <a:t>La información será organizada para que el usuario pueda encontrar rápidamente actividades según sus intereses.</a:t>
            </a:r>
            <a:endParaRPr/>
          </a:p>
          <a:p>
            <a:pPr indent="139700" lvl="0" marL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2204" r="0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0404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0" y="0"/>
            <a:ext cx="11786754" cy="6858000"/>
          </a:xfrm>
          <a:custGeom>
            <a:rect b="b" l="l" r="r" t="t"/>
            <a:pathLst>
              <a:path extrusionOk="0" h="6858000" w="11786754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0"/>
            <a:ext cx="3581400" cy="6858000"/>
          </a:xfrm>
          <a:custGeom>
            <a:rect b="b" l="l" r="r" t="t"/>
            <a:pathLst>
              <a:path extrusionOk="0" h="6858000" w="35814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>
              <a:alpha val="3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Metodología de trabajo</a:t>
            </a:r>
            <a:endParaRPr/>
          </a:p>
        </p:txBody>
      </p:sp>
      <p:sp>
        <p:nvSpPr>
          <p:cNvPr id="157" name="Google Shape;157;p8"/>
          <p:cNvSpPr txBox="1"/>
          <p:nvPr>
            <p:ph idx="1" type="body"/>
          </p:nvPr>
        </p:nvSpPr>
        <p:spPr>
          <a:xfrm>
            <a:off x="838200" y="2010833"/>
            <a:ext cx="5096934" cy="41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Enfoque hibrido: Scrum + Kanban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Scrum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-Trabajo por ciclos/sprints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-Planificacion de objetivos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-Revision de avances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-Retrospectiva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-Priorización de funcionalidades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58" name="Google Shape;158;p8"/>
          <p:cNvSpPr txBox="1"/>
          <p:nvPr>
            <p:ph idx="2" type="body"/>
          </p:nvPr>
        </p:nvSpPr>
        <p:spPr>
          <a:xfrm>
            <a:off x="6256866" y="2010833"/>
            <a:ext cx="5096933" cy="41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/>
              <a:t>Kanban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/>
              <a:t>-Visualización del flujo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/>
              <a:t>-Columnas por estado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/>
              <a:t>-Control de tareas en curso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/>
              <a:t>-Detección de bloqueos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3200"/>
              <a:t>-Movimiento continuo de tareas 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>
            <p:ph type="ctrTitle"/>
          </p:nvPr>
        </p:nvSpPr>
        <p:spPr>
          <a:xfrm>
            <a:off x="838200" y="557189"/>
            <a:ext cx="3966463" cy="55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Situación Real y Oportunidad del Entorno</a:t>
            </a:r>
            <a:br>
              <a:rPr b="1" lang="en-US" sz="2000"/>
            </a:br>
            <a:r>
              <a:rPr lang="en-US" sz="2000"/>
              <a:t>Actualmente, la información sobre eventos culturales en la Región Metropolitana se encuentra </a:t>
            </a:r>
            <a:r>
              <a:rPr b="1" lang="en-US" sz="2000"/>
              <a:t>dispersa en diferentes sitios web, instituciones y plataformas</a:t>
            </a:r>
            <a:r>
              <a:rPr lang="en-US" sz="2000"/>
              <a:t>, lo que dificulta que las personas puedan conocer y encontrar actividades de su interés.</a:t>
            </a:r>
            <a:br>
              <a:rPr lang="en-US" sz="2000"/>
            </a:br>
            <a:r>
              <a:rPr lang="en-US" sz="2000"/>
              <a:t>Esta falta de centralización también reduce la visibilidad de eventos y organizaciones culturales locales.</a:t>
            </a:r>
            <a:br>
              <a:rPr lang="en-US" sz="2000"/>
            </a:br>
            <a:r>
              <a:rPr b="1" lang="en-US" sz="2000"/>
              <a:t>Santiago Cultura busca solucionar este problema mediante una plataforma única y accesible</a:t>
            </a:r>
            <a:r>
              <a:rPr lang="en-US" sz="2000"/>
              <a:t>, donde los usuarios puedan buscar, filtrar y consultar eventos culturales de manera rápida y sencilla.</a:t>
            </a:r>
            <a:br>
              <a:rPr lang="en-US" sz="2000"/>
            </a:br>
            <a:endParaRPr sz="2000"/>
          </a:p>
        </p:txBody>
      </p:sp>
      <p:pic>
        <p:nvPicPr>
          <p:cNvPr descr="Muchas bombillas con una sola encendida" id="170" name="Google Shape;170;p10"/>
          <p:cNvPicPr preferRelativeResize="0"/>
          <p:nvPr/>
        </p:nvPicPr>
        <p:blipFill rotWithShape="1">
          <a:blip r:embed="rId3">
            <a:alphaModFix/>
          </a:blip>
          <a:srcRect b="3" l="4152" r="4069" t="0"/>
          <a:stretch/>
        </p:blipFill>
        <p:spPr>
          <a:xfrm>
            <a:off x="5176911" y="720190"/>
            <a:ext cx="6833848" cy="5584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spositivo móvil con aplicaciones" id="176" name="Google Shape;176;p11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1"/>
          <p:cNvSpPr txBox="1"/>
          <p:nvPr>
            <p:ph type="ctr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Funciones de la app</a:t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>
            <p:ph idx="1" type="subTitle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-</a:t>
            </a:r>
            <a:r>
              <a:rPr b="1" lang="en-US">
                <a:solidFill>
                  <a:srgbClr val="FFFFFF"/>
                </a:solidFill>
              </a:rPr>
              <a:t>buscar</a:t>
            </a:r>
            <a:r>
              <a:rPr lang="en-US">
                <a:solidFill>
                  <a:srgbClr val="FFFFFF"/>
                </a:solidFill>
              </a:rPr>
              <a:t> encontrar eventos por nombre o palabras clave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-</a:t>
            </a:r>
            <a:r>
              <a:rPr b="1" lang="en-US">
                <a:solidFill>
                  <a:srgbClr val="FFFFFF"/>
                </a:solidFill>
              </a:rPr>
              <a:t>filtrar</a:t>
            </a:r>
            <a:r>
              <a:rPr lang="en-US">
                <a:solidFill>
                  <a:srgbClr val="FFFFFF"/>
                </a:solidFill>
              </a:rPr>
              <a:t> comuna,fecha,categoría y otras características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-</a:t>
            </a:r>
            <a:r>
              <a:rPr b="1" lang="en-US">
                <a:solidFill>
                  <a:srgbClr val="FFFFFF"/>
                </a:solidFill>
              </a:rPr>
              <a:t>Consultar</a:t>
            </a:r>
            <a:r>
              <a:rPr lang="en-US">
                <a:solidFill>
                  <a:srgbClr val="FFFFFF"/>
                </a:solidFill>
              </a:rPr>
              <a:t> ver fechas,lugar descripción   </a:t>
            </a:r>
            <a:endParaRPr/>
          </a:p>
          <a:p>
            <a:pPr indent="20320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20320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3">
            <a:alphaModFix amt="55000"/>
          </a:blip>
          <a:srcRect b="0" l="0" r="444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 txBox="1"/>
          <p:nvPr>
            <p:ph type="title"/>
          </p:nvPr>
        </p:nvSpPr>
        <p:spPr>
          <a:xfrm>
            <a:off x="686834" y="591345"/>
            <a:ext cx="3480438" cy="472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Arquitectura propuesta </a:t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en-US" sz="2200">
                <a:solidFill>
                  <a:srgbClr val="FFFFFF"/>
                </a:solidFill>
              </a:rPr>
              <a:t>La plataforma estará diseñada mediante una arquitectura modular, separando sus principales componentes para facilitar el desarrollo, mantenimiento y futuras mejoras del sistema.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en-US" sz="2200">
                <a:solidFill>
                  <a:srgbClr val="FFFFFF"/>
                </a:solidFill>
              </a:rPr>
              <a:t>Frontend: encargado de la interfaz visual, navegación, búsqueda, filtros y visualización de los eventos culturales.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en-US" sz="2200">
                <a:solidFill>
                  <a:srgbClr val="FFFFFF"/>
                </a:solidFill>
              </a:rPr>
              <a:t>Backend / API: administra las reglas de negocio, autenticación de usuarios, procesamiento de solicitudes y comunicación entre los distintos componentes.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en-US" sz="2200">
                <a:solidFill>
                  <a:srgbClr val="FFFFFF"/>
                </a:solidFill>
              </a:rPr>
              <a:t>Base de datos: almacena y organiza la información relacionada con eventos, usuarios, categorías, comunas y fuentes de información.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FFFF"/>
              </a:buClr>
              <a:buSzPts val="2200"/>
              <a:buChar char="•"/>
            </a:pPr>
            <a:r>
              <a:rPr lang="en-US" sz="2200">
                <a:solidFill>
                  <a:srgbClr val="FFFFFF"/>
                </a:solidFill>
              </a:rPr>
              <a:t>Integraciones: permite obtener información desde APIs y fuentes culturales externas, para posteriormente validarla y normalizarla antes de mostrarla al usuario.</a:t>
            </a:r>
            <a:endParaRPr/>
          </a:p>
          <a:p>
            <a:pPr indent="-2032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4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4"/>
          <p:cNvSpPr txBox="1"/>
          <p:nvPr>
            <p:ph type="ctr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Integracion de APIs y fuentes externas  </a:t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 txBox="1"/>
          <p:nvPr>
            <p:ph idx="1" type="subTitle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</a:rPr>
              <a:t>-Fuente cultural:Agendas y plataformas de instituciones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</a:rPr>
              <a:t>Api/consulta obtención de datos mediante API </a:t>
            </a:r>
            <a:endParaRPr/>
          </a:p>
          <a:p>
            <a:pPr indent="12700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</a:rPr>
              <a:t>Normalizacion: Convertir formatos distintos a un moderador </a:t>
            </a:r>
            <a:endParaRPr/>
          </a:p>
          <a:p>
            <a:pPr indent="12700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</a:rPr>
              <a:t>App mostrar resultados al usuario </a:t>
            </a:r>
            <a:endParaRPr/>
          </a:p>
          <a:p>
            <a:pPr indent="12700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0" i="0" lang="en-US" sz="2000">
                <a:solidFill>
                  <a:srgbClr val="FFFFFF"/>
                </a:solidFill>
              </a:rPr>
              <a:t>Fuente verificada para el contexto: Santiago Cultura mantiene una Agenda Cultural Comunal con actividades y eventos. E</a:t>
            </a:r>
            <a:br>
              <a:rPr lang="en-US" sz="2000">
                <a:solidFill>
                  <a:srgbClr val="FFFFFF"/>
                </a:solidFill>
              </a:rPr>
            </a:br>
            <a:r>
              <a:rPr b="0" i="0" lang="en-US" sz="2000">
                <a:solidFill>
                  <a:srgbClr val="FFFFFF"/>
                </a:solidFill>
              </a:rPr>
              <a:t>cite no visible in PPT</a:t>
            </a:r>
            <a:br>
              <a:rPr lang="en-US" sz="2000">
                <a:solidFill>
                  <a:srgbClr val="FFFFFF"/>
                </a:solidFill>
              </a:rPr>
            </a:br>
            <a:r>
              <a:rPr b="0" i="0" lang="en-US" sz="2000">
                <a:solidFill>
                  <a:srgbClr val="FFFFFF"/>
                </a:solidFill>
              </a:rPr>
              <a:t>El Portal de Datos Abiertos de Chile dispone de una API CKAN para consultar recursos que tengan DataStore; su uso concreto para eventos deberá validarse según la fuente elegida.</a:t>
            </a:r>
            <a:br>
              <a:rPr lang="en-US" sz="2000">
                <a:solidFill>
                  <a:srgbClr val="FFFFFF"/>
                </a:solidFill>
              </a:rPr>
            </a:br>
            <a:r>
              <a:rPr b="0" i="0" lang="en-US" sz="2000">
                <a:solidFill>
                  <a:srgbClr val="FFFFFF"/>
                </a:solidFill>
              </a:rPr>
              <a:t>El provecto no asumirá una API de eventos específica hasta comprobar disponibilidad, cobertura de comunas, licencia y</a:t>
            </a:r>
            <a:br>
              <a:rPr lang="en-US" sz="2000">
                <a:solidFill>
                  <a:srgbClr val="FFFFFF"/>
                </a:solidFill>
              </a:rPr>
            </a:br>
            <a:r>
              <a:rPr b="0" i="0" lang="en-US" sz="2000">
                <a:solidFill>
                  <a:srgbClr val="FFFFFF"/>
                </a:solidFill>
              </a:rPr>
              <a:t>estructura de datos.</a:t>
            </a:r>
            <a:br>
              <a:rPr lang="en-US" sz="2000">
                <a:solidFill>
                  <a:srgbClr val="FFFFFF"/>
                </a:solidFill>
              </a:rPr>
            </a:br>
            <a:r>
              <a:rPr b="0" i="0" lang="en-US" sz="2000">
                <a:solidFill>
                  <a:srgbClr val="FFFFFF"/>
                </a:solidFill>
              </a:rPr>
              <a:t>Fuentes de referencia: Santiago Cultura (Agenda Cultural) - Portal de Datos Abiertos de Chile (API CKAN)</a:t>
            </a:r>
            <a:endParaRPr sz="2000">
              <a:solidFill>
                <a:srgbClr val="FFFFFF"/>
              </a:solidFill>
            </a:endParaRPr>
          </a:p>
          <a:p>
            <a:pPr indent="12700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ior de la sala de servidores" id="208" name="Google Shape;208;p15"/>
          <p:cNvPicPr preferRelativeResize="0"/>
          <p:nvPr/>
        </p:nvPicPr>
        <p:blipFill rotWithShape="1">
          <a:blip r:embed="rId3">
            <a:alphaModFix amt="55000"/>
          </a:blip>
          <a:srcRect b="1144" l="0" r="0" t="14586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 txBox="1"/>
          <p:nvPr>
            <p:ph type="ctr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Datos que manejara la plataforma </a:t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>
            <p:ph idx="1" type="subTitle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Identificación: ID,nombre y descripción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Ubicación:	Comuna, dirección y coordenadas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Tiempo:Fecha,hora y duracion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Clasificacion:Categoria,tipo y publico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Acceso:Precio, gratuidad e inscripción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Char char="•"/>
            </a:pPr>
            <a:r>
              <a:rPr lang="en-US">
                <a:solidFill>
                  <a:srgbClr val="FFFFFF"/>
                </a:solidFill>
              </a:rPr>
              <a:t>Fuente: Organizador,URL y origen de dato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d tecnológica iluminada en un fondo oscuro" id="217" name="Google Shape;217;p16"/>
          <p:cNvPicPr preferRelativeResize="0"/>
          <p:nvPr/>
        </p:nvPicPr>
        <p:blipFill rotWithShape="1">
          <a:blip r:embed="rId3">
            <a:alphaModFix/>
          </a:blip>
          <a:srcRect b="0" l="16639" r="23412" t="0"/>
          <a:stretch/>
        </p:blipFill>
        <p:spPr>
          <a:xfrm>
            <a:off x="4883022" y="10"/>
            <a:ext cx="7308978" cy="6857990"/>
          </a:xfrm>
          <a:custGeom>
            <a:rect b="b" l="l" r="r" t="t"/>
            <a:pathLst>
              <a:path extrusionOk="0" h="6858000" w="7308978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18" name="Google Shape;218;p16"/>
          <p:cNvSpPr/>
          <p:nvPr/>
        </p:nvSpPr>
        <p:spPr>
          <a:xfrm>
            <a:off x="0" y="0"/>
            <a:ext cx="6096001" cy="6858000"/>
          </a:xfrm>
          <a:custGeom>
            <a:rect b="b" l="l" r="r" t="t"/>
            <a:pathLst>
              <a:path extrusionOk="0" h="6858000" w="6096001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0" y="0"/>
            <a:ext cx="6086857" cy="6858000"/>
          </a:xfrm>
          <a:custGeom>
            <a:rect b="b" l="l" r="r" t="t"/>
            <a:pathLst>
              <a:path extrusionOk="0" h="6858000" w="6086857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 txBox="1"/>
          <p:nvPr>
            <p:ph type="title"/>
          </p:nvPr>
        </p:nvSpPr>
        <p:spPr>
          <a:xfrm>
            <a:off x="374904" y="1124324"/>
            <a:ext cx="4992624" cy="975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en-US" sz="3400"/>
              <a:t>Flujo de datos de las APIs </a:t>
            </a:r>
            <a:endParaRPr sz="3400"/>
          </a:p>
        </p:txBody>
      </p:sp>
      <p:sp>
        <p:nvSpPr>
          <p:cNvPr id="221" name="Google Shape;221;p16"/>
          <p:cNvSpPr/>
          <p:nvPr/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>
            <p:ph idx="1" type="body"/>
          </p:nvPr>
        </p:nvSpPr>
        <p:spPr>
          <a:xfrm>
            <a:off x="374904" y="2308889"/>
            <a:ext cx="5065776" cy="4215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Fuente externa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Consulta API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Validacion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Normalizacion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FRONTEND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Se deben controlar duplicados,campos faltantes,formatos de fecha y diferencias entre comunas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Si una fuenta deja de responder,la aplicación debe manejar el error sin quedar inutilizable.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" name="Google Shape;229;p17"/>
          <p:cNvGrpSpPr/>
          <p:nvPr/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230" name="Google Shape;230;p17"/>
            <p:cNvSpPr/>
            <p:nvPr/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16200000" scaled="0"/>
            </a:gradFill>
            <a:ln>
              <a:noFill/>
            </a:ln>
            <a:effectLst>
              <a:outerShdw blurRad="127000" sx="98000" rotWithShape="0" algn="tl" dir="4740000" dist="190500" sy="98000">
                <a:srgbClr val="000000">
                  <a:alpha val="3411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76200">
              <a:solidFill>
                <a:srgbClr val="19191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2" name="Google Shape;2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087" y="872793"/>
            <a:ext cx="2224506" cy="48097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7"/>
          <p:cNvGrpSpPr/>
          <p:nvPr/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234" name="Google Shape;234;p17"/>
            <p:cNvSpPr/>
            <p:nvPr/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16200000" scaled="0"/>
            </a:gradFill>
            <a:ln>
              <a:noFill/>
            </a:ln>
            <a:effectLst>
              <a:outerShdw blurRad="127000" sx="98000" rotWithShape="0" algn="tl" dir="4740000" dist="190500" sy="98000">
                <a:srgbClr val="000000">
                  <a:alpha val="3411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76200">
              <a:solidFill>
                <a:srgbClr val="19191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6" name="Google Shape;2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9852" y="872793"/>
            <a:ext cx="2224506" cy="48097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7"/>
          <p:cNvGrpSpPr/>
          <p:nvPr/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238" name="Google Shape;238;p17"/>
            <p:cNvSpPr/>
            <p:nvPr/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16200000" scaled="0"/>
            </a:gradFill>
            <a:ln>
              <a:noFill/>
            </a:ln>
            <a:effectLst>
              <a:outerShdw blurRad="127000" sx="98000" rotWithShape="0" algn="tl" dir="4740000" dist="190500" sy="98000">
                <a:srgbClr val="000000">
                  <a:alpha val="34118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76200">
              <a:solidFill>
                <a:srgbClr val="19191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0" name="Google Shape;2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8406" y="872793"/>
            <a:ext cx="2224506" cy="4809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/>
          <p:nvPr/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8"/>
          <p:cNvPicPr preferRelativeResize="0"/>
          <p:nvPr/>
        </p:nvPicPr>
        <p:blipFill rotWithShape="1">
          <a:blip r:embed="rId3">
            <a:alphaModFix amt="55000"/>
          </a:blip>
          <a:srcRect b="0" l="0" r="0" t="0"/>
          <a:stretch/>
        </p:blipFill>
        <p:spPr>
          <a:xfrm>
            <a:off x="20" y="-910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8"/>
          <p:cNvSpPr txBox="1"/>
          <p:nvPr>
            <p:ph type="title"/>
          </p:nvPr>
        </p:nvSpPr>
        <p:spPr>
          <a:xfrm>
            <a:off x="686834" y="591344"/>
            <a:ext cx="3200400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FFFFFF"/>
                </a:solidFill>
              </a:rPr>
              <a:t>Conclusión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48" name="Google Shape;248;p18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b="1" sz="2700">
              <a:solidFill>
                <a:srgbClr val="FFFFFF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FFFFF"/>
              </a:buClr>
              <a:buSzPts val="2700"/>
              <a:buChar char="•"/>
            </a:pPr>
            <a:r>
              <a:rPr lang="en-US" sz="2700">
                <a:solidFill>
                  <a:srgbClr val="FFFFFF"/>
                </a:solidFill>
              </a:rPr>
              <a:t>Santiago Cultura busca </a:t>
            </a:r>
            <a:r>
              <a:rPr b="1" lang="en-US" sz="2700">
                <a:solidFill>
                  <a:srgbClr val="FFFFFF"/>
                </a:solidFill>
              </a:rPr>
              <a:t>centralizar la información de eventos culturales de Santiago</a:t>
            </a:r>
            <a:r>
              <a:rPr lang="en-US" sz="2700">
                <a:solidFill>
                  <a:srgbClr val="FFFFFF"/>
                </a:solidFill>
              </a:rPr>
              <a:t> en una plataforma simple, accesible y fácil de utilizar.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rgbClr val="FFFFFF"/>
              </a:buClr>
              <a:buSzPts val="2700"/>
              <a:buChar char="•"/>
            </a:pPr>
            <a:r>
              <a:rPr lang="en-US" sz="2700">
                <a:solidFill>
                  <a:srgbClr val="FFFFFF"/>
                </a:solidFill>
              </a:rPr>
              <a:t>A través de herramientas de búsqueda y filtros, los usuarios podrán encontrar actividades según sus intereses, fechas y ubicación. De esta manera, el proyecto busca </a:t>
            </a:r>
            <a:r>
              <a:rPr b="1" lang="en-US" sz="2700">
                <a:solidFill>
                  <a:srgbClr val="FFFFFF"/>
                </a:solidFill>
              </a:rPr>
              <a:t>facilitar el acceso a la cultura, mejorar la visibilidad de los eventos locales y conectar a las personas con las actividades de su ciudad</a:t>
            </a:r>
            <a:r>
              <a:rPr lang="en-US" sz="2700">
                <a:solidFill>
                  <a:srgbClr val="FFFFFF"/>
                </a:solidFill>
              </a:rPr>
              <a:t>.</a:t>
            </a:r>
            <a:endParaRPr/>
          </a:p>
          <a:p>
            <a:pPr indent="-171450" lvl="0" marL="342900" rtl="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sz="2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PCXX</dc:creator>
</cp:coreProperties>
</file>