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8Hjg/6B5hms+kGSPjQcM3+qm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0E1B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5F8FA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4"/>
          <p:cNvSpPr txBox="1"/>
          <p:nvPr>
            <p:ph idx="12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2A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713232" y="5029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CAPSTONE  ·  FASE 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170432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Avance técnico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1719072"/>
            <a:ext cx="5303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Evento Cultural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2542032"/>
            <a:ext cx="4663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3D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9D3DA"/>
                </a:solidFill>
                <a:latin typeface="Arial"/>
                <a:ea typeface="Arial"/>
                <a:cs typeface="Arial"/>
                <a:sym typeface="Arial"/>
              </a:rPr>
              <a:t>Estado del producto, sus integraciones y el avance respecto de la planificación.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199632" y="603504"/>
            <a:ext cx="5230368" cy="4041648"/>
          </a:xfrm>
          <a:prstGeom prst="roundRect">
            <a:avLst>
              <a:gd fmla="val 1810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recursos\capturas\app_listado_b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9088" y="932688"/>
            <a:ext cx="4800600" cy="21854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6419088" y="3401568"/>
            <a:ext cx="1627632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19088" y="3410712"/>
            <a:ext cx="16276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PRODUCTO INTEGRADO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19088" y="3803904"/>
            <a:ext cx="44988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E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7E0E6"/>
                </a:solidFill>
                <a:latin typeface="Arial"/>
                <a:ea typeface="Arial"/>
                <a:cs typeface="Arial"/>
                <a:sym typeface="Arial"/>
              </a:rPr>
              <a:t>Frontend productivo con Supabase, autenticación y QA verificable.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31520" y="4279392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S16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31520" y="471830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segunda evaluación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331720" y="4279392"/>
            <a:ext cx="1417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331720" y="4718304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fuentes configuradas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931920" y="4279392"/>
            <a:ext cx="1600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69A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2A69A"/>
                </a:solidFill>
                <a:latin typeface="Cambria"/>
                <a:ea typeface="Cambria"/>
                <a:cs typeface="Cambria"/>
                <a:sym typeface="Cambria"/>
              </a:rPr>
              <a:t>140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3931920" y="4718304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31520" y="5687568"/>
            <a:ext cx="5166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Roberto Riffo  ·  José Miguel Moncada  ·  David Herrera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31520" y="6016752"/>
            <a:ext cx="4937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B6C0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A8B6C0"/>
                </a:solidFill>
                <a:latin typeface="Arial"/>
                <a:ea typeface="Arial"/>
                <a:cs typeface="Arial"/>
                <a:sym typeface="Arial"/>
              </a:rPr>
              <a:t>Duoc UC, Sede Maipú  ·  13 de octubre de 2026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89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28896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800" u="none" cap="none" strike="noStrike">
              <a:solidFill>
                <a:srgbClr val="8092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/>
        </p:nvSpPr>
        <p:spPr>
          <a:xfrm>
            <a:off x="658368" y="329184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00  CONTENIDO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58368" y="658368"/>
            <a:ext cx="8595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Índice de la presentación</a:t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58368" y="1243584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Del estado actual a las decisiones y próximos hitos del producto.</a:t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713232" y="197510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1426464" y="1965960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Contexto y estado actual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5285232" y="1975104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03–05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1426464" y="236829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Visión ejecutiva · Gantt · componentes</a:t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1426464" y="2834640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336792" y="197510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/>
          </a:p>
        </p:txBody>
      </p:sp>
      <p:sp>
        <p:nvSpPr>
          <p:cNvPr id="53" name="Google Shape;53;p2"/>
          <p:cNvSpPr txBox="1"/>
          <p:nvPr/>
        </p:nvSpPr>
        <p:spPr>
          <a:xfrm>
            <a:off x="7050024" y="1965960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Arquitectura y experiencia</a:t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10908792" y="1975104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06–08</a:t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050024" y="2368296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Capas del sistema · experiencia · frontend técnico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050024" y="2834640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13232" y="323697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18A8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1426464" y="3227832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Datos, backend y usuarios</a:t>
            </a:r>
            <a:endParaRPr/>
          </a:p>
        </p:txBody>
      </p:sp>
      <p:sp>
        <p:nvSpPr>
          <p:cNvPr id="59" name="Google Shape;59;p2"/>
          <p:cNvSpPr txBox="1"/>
          <p:nvPr/>
        </p:nvSpPr>
        <p:spPr>
          <a:xfrm>
            <a:off x="5285232" y="323697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09–14</a:t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1426464" y="363016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Supabase · modelo ER · backend · señales · territorio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426464" y="4096512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6336792" y="323697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4386B5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7050024" y="3227832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Adquisición y operación</a:t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10908792" y="3236976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15–16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050024" y="363016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Scraper · seguridad · despliegue</a:t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7050024" y="4096512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713232" y="4498848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B94C6B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/>
          </a:p>
        </p:txBody>
      </p:sp>
      <p:sp>
        <p:nvSpPr>
          <p:cNvPr id="68" name="Google Shape;68;p2"/>
          <p:cNvSpPr txBox="1"/>
          <p:nvPr/>
        </p:nvSpPr>
        <p:spPr>
          <a:xfrm>
            <a:off x="1426464" y="4489704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Calidad y cierre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5285232" y="449884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17–19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1426464" y="48920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Pruebas · hallazgos · hoja de ruta</a:t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1426464" y="5358383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6336792" y="4498848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748592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7050024" y="4489704"/>
            <a:ext cx="3886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Cierre ejecutivo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10908792" y="449884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7050024" y="48920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Conclusión y próximo paso</a:t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7050024" y="5358383"/>
            <a:ext cx="4517136" cy="10972"/>
          </a:xfrm>
          <a:prstGeom prst="rect">
            <a:avLst/>
          </a:prstGeom>
          <a:solidFill>
            <a:srgbClr val="D4E0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13232" y="5760720"/>
            <a:ext cx="10771632" cy="438912"/>
          </a:xfrm>
          <a:prstGeom prst="roundRect">
            <a:avLst>
              <a:gd fmla="val 16667" name="adj"/>
            </a:avLst>
          </a:prstGeom>
          <a:solidFill>
            <a:srgbClr val="0E1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932688" y="587044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RECORRIDO</a:t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1901952" y="581558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Diagnóstico  →  arquitectura  →  integración  →  validación  →  entrega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01  VISIÓN EJECUTIVA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Producto integrado: ahora debe cerrar calidad y seguridad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La evidencia actual demuestra datos reales, autenticación, despliegue y operación automatizada.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58368" y="190195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58368" y="224028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58368" y="2688336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Catálogo real y responsive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58368" y="3273552"/>
            <a:ext cx="1051560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58368" y="3282696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3"/>
          <p:cNvCxnSpPr/>
          <p:nvPr/>
        </p:nvCxnSpPr>
        <p:spPr>
          <a:xfrm>
            <a:off x="658368" y="3895344"/>
            <a:ext cx="2359152" cy="0"/>
          </a:xfrm>
          <a:prstGeom prst="straightConnector1">
            <a:avLst/>
          </a:prstGeom>
          <a:noFill/>
          <a:ln cap="flat" cmpd="sng" w="38100">
            <a:solidFill>
              <a:srgbClr val="118A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3"/>
          <p:cNvSpPr/>
          <p:nvPr/>
        </p:nvSpPr>
        <p:spPr>
          <a:xfrm>
            <a:off x="3529584" y="190195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529584" y="224028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Supabase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529584" y="2688336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Catálogo, RLS y trazabilidad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529584" y="3273552"/>
            <a:ext cx="1051560" cy="283464"/>
          </a:xfrm>
          <a:prstGeom prst="roundRect">
            <a:avLst>
              <a:gd fmla="val 19355" name="adj"/>
            </a:avLst>
          </a:prstGeom>
          <a:solidFill>
            <a:srgbClr val="2A9D8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529584" y="3282696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>
            <a:off x="3529584" y="3895344"/>
            <a:ext cx="2359152" cy="0"/>
          </a:xfrm>
          <a:prstGeom prst="straightConnector1">
            <a:avLst/>
          </a:prstGeom>
          <a:noFill/>
          <a:ln cap="flat" cmpd="sng" w="381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3"/>
          <p:cNvSpPr/>
          <p:nvPr/>
        </p:nvSpPr>
        <p:spPr>
          <a:xfrm>
            <a:off x="6400800" y="190195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OPERACIÓN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400800" y="224028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Automatización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400800" y="2688336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Workflow, checkpoints y control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00800" y="3273552"/>
            <a:ext cx="1051560" cy="283464"/>
          </a:xfrm>
          <a:prstGeom prst="roundRect">
            <a:avLst>
              <a:gd fmla="val 19355" name="adj"/>
            </a:avLst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400800" y="3282696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3"/>
          <p:cNvCxnSpPr/>
          <p:nvPr/>
        </p:nvCxnSpPr>
        <p:spPr>
          <a:xfrm>
            <a:off x="6400800" y="3895344"/>
            <a:ext cx="2359152" cy="0"/>
          </a:xfrm>
          <a:prstGeom prst="straightConnector1">
            <a:avLst/>
          </a:prstGeom>
          <a:noFill/>
          <a:ln cap="flat" cmpd="sng" w="38100">
            <a:solidFill>
              <a:srgbClr val="4386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3"/>
          <p:cNvSpPr/>
          <p:nvPr/>
        </p:nvSpPr>
        <p:spPr>
          <a:xfrm>
            <a:off x="9272016" y="1901952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9272016" y="2240280"/>
            <a:ext cx="24871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272016" y="2688336"/>
            <a:ext cx="24871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060"/>
              <a:buFont typeface="Arial"/>
              <a:buNone/>
            </a:pPr>
            <a:r>
              <a:rPr lang="en-US" sz="106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Auth, señales y consultas reales</a:t>
            </a:r>
            <a:endParaRPr sz="10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272016" y="3273552"/>
            <a:ext cx="1051560" cy="283464"/>
          </a:xfrm>
          <a:prstGeom prst="roundRect">
            <a:avLst>
              <a:gd fmla="val 19355" name="adj"/>
            </a:avLst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272016" y="3282696"/>
            <a:ext cx="1051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9272016" y="3895344"/>
            <a:ext cx="2359152" cy="0"/>
          </a:xfrm>
          <a:prstGeom prst="straightConnector1">
            <a:avLst/>
          </a:prstGeom>
          <a:noFill/>
          <a:ln cap="flat" cmpd="sng" w="38100">
            <a:solidFill>
              <a:srgbClr val="D6A5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658368" y="4370832"/>
            <a:ext cx="10863072" cy="1225296"/>
          </a:xfrm>
          <a:prstGeom prst="roundRect">
            <a:avLst>
              <a:gd fmla="val 4478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932688" y="461772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Decisión de gestión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2880360" y="4553712"/>
            <a:ext cx="815644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Priorizar QA, seguridad, recuperación de cuenta y correcciones móviles antes de ampliar el alcance.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02  PLANIFICACIÓN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Carta Gantt: situación real frente a la línea base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Corte: 11 oct (cierre S15) · E2: 13 oct (S16) · Evaluación final: S18, fecha por confirmar.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13232" y="185623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971800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4"/>
          <p:cNvCxnSpPr/>
          <p:nvPr/>
        </p:nvCxnSpPr>
        <p:spPr>
          <a:xfrm>
            <a:off x="3195828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0" name="Google Shape;130;p4"/>
          <p:cNvSpPr/>
          <p:nvPr/>
        </p:nvSpPr>
        <p:spPr>
          <a:xfrm>
            <a:off x="3419856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3643884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867912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4091940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4" name="Google Shape;134;p4"/>
          <p:cNvSpPr/>
          <p:nvPr/>
        </p:nvSpPr>
        <p:spPr>
          <a:xfrm>
            <a:off x="4315968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4"/>
          <p:cNvCxnSpPr/>
          <p:nvPr/>
        </p:nvCxnSpPr>
        <p:spPr>
          <a:xfrm>
            <a:off x="4539996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6" name="Google Shape;136;p4"/>
          <p:cNvSpPr/>
          <p:nvPr/>
        </p:nvSpPr>
        <p:spPr>
          <a:xfrm>
            <a:off x="4764024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4988052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5212080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4"/>
          <p:cNvCxnSpPr/>
          <p:nvPr/>
        </p:nvCxnSpPr>
        <p:spPr>
          <a:xfrm>
            <a:off x="5436108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0" name="Google Shape;140;p4"/>
          <p:cNvSpPr/>
          <p:nvPr/>
        </p:nvSpPr>
        <p:spPr>
          <a:xfrm>
            <a:off x="5660136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4"/>
          <p:cNvCxnSpPr/>
          <p:nvPr/>
        </p:nvCxnSpPr>
        <p:spPr>
          <a:xfrm>
            <a:off x="5884164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2" name="Google Shape;142;p4"/>
          <p:cNvSpPr/>
          <p:nvPr/>
        </p:nvSpPr>
        <p:spPr>
          <a:xfrm>
            <a:off x="6108192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>
            <a:off x="6332220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4" name="Google Shape;144;p4"/>
          <p:cNvSpPr/>
          <p:nvPr/>
        </p:nvSpPr>
        <p:spPr>
          <a:xfrm>
            <a:off x="6556248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4"/>
          <p:cNvCxnSpPr/>
          <p:nvPr/>
        </p:nvCxnSpPr>
        <p:spPr>
          <a:xfrm>
            <a:off x="6780276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/>
          <p:nvPr/>
        </p:nvSpPr>
        <p:spPr>
          <a:xfrm>
            <a:off x="7004304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780"/>
              <a:buFont typeface="Arial"/>
              <a:buNone/>
            </a:pPr>
            <a:r>
              <a:rPr b="1" lang="en-US" sz="780">
                <a:solidFill>
                  <a:srgbClr val="70829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4"/>
          <p:cNvCxnSpPr/>
          <p:nvPr/>
        </p:nvCxnSpPr>
        <p:spPr>
          <a:xfrm>
            <a:off x="7228332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8" name="Google Shape;148;p4"/>
          <p:cNvSpPr/>
          <p:nvPr/>
        </p:nvSpPr>
        <p:spPr>
          <a:xfrm>
            <a:off x="7452360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4"/>
          <p:cNvCxnSpPr/>
          <p:nvPr/>
        </p:nvCxnSpPr>
        <p:spPr>
          <a:xfrm>
            <a:off x="7676388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4"/>
          <p:cNvSpPr/>
          <p:nvPr/>
        </p:nvSpPr>
        <p:spPr>
          <a:xfrm>
            <a:off x="7900416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780"/>
              <a:buFont typeface="Arial"/>
              <a:buNone/>
            </a:pPr>
            <a:r>
              <a:rPr b="1" lang="en-US" sz="780">
                <a:solidFill>
                  <a:srgbClr val="70829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4"/>
          <p:cNvCxnSpPr/>
          <p:nvPr/>
        </p:nvCxnSpPr>
        <p:spPr>
          <a:xfrm>
            <a:off x="8124444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2" name="Google Shape;152;p4"/>
          <p:cNvSpPr/>
          <p:nvPr/>
        </p:nvSpPr>
        <p:spPr>
          <a:xfrm>
            <a:off x="8348472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8572500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4"/>
          <p:cNvSpPr/>
          <p:nvPr/>
        </p:nvSpPr>
        <p:spPr>
          <a:xfrm>
            <a:off x="8796528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4"/>
          <p:cNvCxnSpPr/>
          <p:nvPr/>
        </p:nvCxnSpPr>
        <p:spPr>
          <a:xfrm>
            <a:off x="9020556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6" name="Google Shape;156;p4"/>
          <p:cNvSpPr/>
          <p:nvPr/>
        </p:nvSpPr>
        <p:spPr>
          <a:xfrm>
            <a:off x="9244584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D8A829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4"/>
          <p:cNvCxnSpPr/>
          <p:nvPr/>
        </p:nvCxnSpPr>
        <p:spPr>
          <a:xfrm>
            <a:off x="9468612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9692640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F36E4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9916668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/>
          <p:nvPr/>
        </p:nvSpPr>
        <p:spPr>
          <a:xfrm>
            <a:off x="10140696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4"/>
          <p:cNvCxnSpPr/>
          <p:nvPr/>
        </p:nvCxnSpPr>
        <p:spPr>
          <a:xfrm>
            <a:off x="10364724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2" name="Google Shape;162;p4"/>
          <p:cNvSpPr/>
          <p:nvPr/>
        </p:nvSpPr>
        <p:spPr>
          <a:xfrm>
            <a:off x="10588752" y="1828800"/>
            <a:ext cx="448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4"/>
          <p:cNvCxnSpPr/>
          <p:nvPr/>
        </p:nvCxnSpPr>
        <p:spPr>
          <a:xfrm>
            <a:off x="10812780" y="2112264"/>
            <a:ext cx="0" cy="3383280"/>
          </a:xfrm>
          <a:prstGeom prst="straightConnector1">
            <a:avLst/>
          </a:prstGeom>
          <a:noFill/>
          <a:ln cap="flat" cmpd="sng" w="9525">
            <a:solidFill>
              <a:srgbClr val="DCE5E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4"/>
          <p:cNvSpPr/>
          <p:nvPr/>
        </p:nvSpPr>
        <p:spPr>
          <a:xfrm>
            <a:off x="713232" y="2286000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Modelo y datos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2971800" y="2432304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/>
          <p:nvPr/>
        </p:nvSpPr>
        <p:spPr>
          <a:xfrm>
            <a:off x="4764024" y="2322576"/>
            <a:ext cx="1271016" cy="219456"/>
          </a:xfrm>
          <a:prstGeom prst="roundRect">
            <a:avLst>
              <a:gd fmla="val 16667" name="adj"/>
            </a:avLst>
          </a:prstGeom>
          <a:solidFill>
            <a:srgbClr val="118A84"/>
          </a:solidFill>
          <a:ln cap="flat" cmpd="sng" w="12700">
            <a:solidFill>
              <a:srgbClr val="118A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13232" y="2816352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Frontend navegable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4"/>
          <p:cNvCxnSpPr/>
          <p:nvPr/>
        </p:nvCxnSpPr>
        <p:spPr>
          <a:xfrm>
            <a:off x="2971800" y="2962656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/>
          <p:nvPr/>
        </p:nvSpPr>
        <p:spPr>
          <a:xfrm>
            <a:off x="5660136" y="2852928"/>
            <a:ext cx="1271016" cy="219456"/>
          </a:xfrm>
          <a:prstGeom prst="roundRect">
            <a:avLst>
              <a:gd fmla="val 16667" name="adj"/>
            </a:avLst>
          </a:prstGeom>
          <a:solidFill>
            <a:srgbClr val="118A84"/>
          </a:solidFill>
          <a:ln cap="flat" cmpd="sng" w="12700">
            <a:solidFill>
              <a:srgbClr val="118A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13232" y="3346704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b="1"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Backend y autenticación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4"/>
          <p:cNvCxnSpPr/>
          <p:nvPr/>
        </p:nvCxnSpPr>
        <p:spPr>
          <a:xfrm>
            <a:off x="2971800" y="3493008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4"/>
          <p:cNvSpPr/>
          <p:nvPr/>
        </p:nvSpPr>
        <p:spPr>
          <a:xfrm>
            <a:off x="6556248" y="3383280"/>
            <a:ext cx="1719072" cy="219456"/>
          </a:xfrm>
          <a:prstGeom prst="roundRect">
            <a:avLst>
              <a:gd fmla="val 16667" name="adj"/>
            </a:avLst>
          </a:prstGeom>
          <a:solidFill>
            <a:srgbClr val="D6A52D"/>
          </a:solidFill>
          <a:ln cap="flat" cmpd="sng" w="12700">
            <a:solidFill>
              <a:srgbClr val="D6A5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7543800" y="3319272"/>
            <a:ext cx="685800" cy="283464"/>
          </a:xfrm>
          <a:prstGeom prst="roundRect">
            <a:avLst>
              <a:gd fmla="val 19355" name="adj"/>
            </a:avLst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7543800" y="3328416"/>
            <a:ext cx="685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13232" y="3877056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Integración frontend–datos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4"/>
          <p:cNvCxnSpPr/>
          <p:nvPr/>
        </p:nvCxnSpPr>
        <p:spPr>
          <a:xfrm>
            <a:off x="2971800" y="4023360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4"/>
          <p:cNvSpPr/>
          <p:nvPr/>
        </p:nvSpPr>
        <p:spPr>
          <a:xfrm>
            <a:off x="7900416" y="3913632"/>
            <a:ext cx="1271016" cy="219456"/>
          </a:xfrm>
          <a:prstGeom prst="roundRect">
            <a:avLst>
              <a:gd fmla="val 16667" name="adj"/>
            </a:avLst>
          </a:prstGeom>
          <a:solidFill>
            <a:srgbClr val="4386B5"/>
          </a:solidFill>
          <a:ln cap="flat" cmpd="sng" w="12700">
            <a:solidFill>
              <a:srgbClr val="4386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13232" y="4407408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QA y accesibilidad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4"/>
          <p:cNvCxnSpPr/>
          <p:nvPr/>
        </p:nvCxnSpPr>
        <p:spPr>
          <a:xfrm>
            <a:off x="2971800" y="4553712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4"/>
          <p:cNvSpPr/>
          <p:nvPr/>
        </p:nvSpPr>
        <p:spPr>
          <a:xfrm>
            <a:off x="8796528" y="4443984"/>
            <a:ext cx="822960" cy="219456"/>
          </a:xfrm>
          <a:prstGeom prst="roundRect">
            <a:avLst>
              <a:gd fmla="val 16667" name="adj"/>
            </a:avLst>
          </a:prstGeom>
          <a:solidFill>
            <a:srgbClr val="4386B5"/>
          </a:solidFill>
          <a:ln cap="flat" cmpd="sng" w="12700">
            <a:solidFill>
              <a:srgbClr val="4386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13232" y="4937760"/>
            <a:ext cx="20665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Cierre y documentación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4"/>
          <p:cNvCxnSpPr/>
          <p:nvPr/>
        </p:nvCxnSpPr>
        <p:spPr>
          <a:xfrm>
            <a:off x="2971800" y="5084064"/>
            <a:ext cx="8065008" cy="0"/>
          </a:xfrm>
          <a:prstGeom prst="straightConnector1">
            <a:avLst/>
          </a:prstGeom>
          <a:noFill/>
          <a:ln cap="flat" cmpd="sng" w="3810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4"/>
          <p:cNvSpPr/>
          <p:nvPr/>
        </p:nvSpPr>
        <p:spPr>
          <a:xfrm>
            <a:off x="9244584" y="4974336"/>
            <a:ext cx="1719072" cy="219456"/>
          </a:xfrm>
          <a:prstGeom prst="roundRect">
            <a:avLst>
              <a:gd fmla="val 16667" name="adj"/>
            </a:avLst>
          </a:prstGeom>
          <a:solidFill>
            <a:srgbClr val="748592"/>
          </a:solidFill>
          <a:ln cap="flat" cmpd="sng" w="12700">
            <a:solidFill>
              <a:srgbClr val="7485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4"/>
          <p:cNvCxnSpPr/>
          <p:nvPr/>
        </p:nvCxnSpPr>
        <p:spPr>
          <a:xfrm>
            <a:off x="9468612" y="1627632"/>
            <a:ext cx="0" cy="4224528"/>
          </a:xfrm>
          <a:prstGeom prst="straightConnector1">
            <a:avLst/>
          </a:prstGeom>
          <a:noFill/>
          <a:ln cap="flat" cmpd="sng" w="22850">
            <a:solidFill>
              <a:srgbClr val="D6A5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4"/>
          <p:cNvCxnSpPr/>
          <p:nvPr/>
        </p:nvCxnSpPr>
        <p:spPr>
          <a:xfrm>
            <a:off x="9916668" y="1627632"/>
            <a:ext cx="0" cy="4224528"/>
          </a:xfrm>
          <a:prstGeom prst="straightConnector1">
            <a:avLst/>
          </a:prstGeom>
          <a:noFill/>
          <a:ln cap="flat" cmpd="sng" w="22850">
            <a:solidFill>
              <a:srgbClr val="E96F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4"/>
          <p:cNvSpPr/>
          <p:nvPr/>
        </p:nvSpPr>
        <p:spPr>
          <a:xfrm>
            <a:off x="8993124" y="5360000"/>
            <a:ext cx="950976" cy="283464"/>
          </a:xfrm>
          <a:prstGeom prst="roundRect">
            <a:avLst>
              <a:gd fmla="val 19355" name="adj"/>
            </a:avLst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993124" y="5369144"/>
            <a:ext cx="95097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S15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9276588" y="5687568"/>
            <a:ext cx="1280160" cy="283464"/>
          </a:xfrm>
          <a:prstGeom prst="roundRect">
            <a:avLst>
              <a:gd fmla="val 19355" name="adj"/>
            </a:avLst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9276588" y="5696712"/>
            <a:ext cx="12801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E2 · S16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13232" y="5806440"/>
            <a:ext cx="6583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Lectura: la integración está resuelta; la desviación se concentra en QA, seguridad y cierre.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03  ESTADO DEL PRODUCTO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Avance por componente y siguiente puerta de salida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Cada componente debe mostrar evidencia y un criterio concreto de término.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13232" y="18105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2971800" y="181051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EVIDENCIA ACTUAL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5961888" y="1810512"/>
            <a:ext cx="1325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ESTADO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528048" y="181051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SIGUIENTE PUERTA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5"/>
          <p:cNvCxnSpPr/>
          <p:nvPr/>
        </p:nvCxnSpPr>
        <p:spPr>
          <a:xfrm>
            <a:off x="713232" y="2103120"/>
            <a:ext cx="10835640" cy="0"/>
          </a:xfrm>
          <a:prstGeom prst="straightConnector1">
            <a:avLst/>
          </a:prstGeom>
          <a:noFill/>
          <a:ln cap="flat" cmpd="sng" w="152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5"/>
          <p:cNvSpPr/>
          <p:nvPr/>
        </p:nvSpPr>
        <p:spPr>
          <a:xfrm>
            <a:off x="658368" y="2176272"/>
            <a:ext cx="10881360" cy="493776"/>
          </a:xfrm>
          <a:prstGeom prst="rect">
            <a:avLst/>
          </a:prstGeom>
          <a:solidFill>
            <a:srgbClr val="EDF3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713232" y="2249424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2971800" y="2249424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Catálogo real, auth y Vercel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961888" y="2231136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961888" y="2240280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9528048" y="224942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Corregir hallazgos móviles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13232" y="2816352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2971800" y="2816352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Catálogo, procedencia y RLS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961888" y="2798064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2A9D8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961888" y="2807208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9528048" y="281635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Validar RLS por rol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58368" y="3310128"/>
            <a:ext cx="10881360" cy="493776"/>
          </a:xfrm>
          <a:prstGeom prst="rect">
            <a:avLst/>
          </a:prstGeom>
          <a:solidFill>
            <a:srgbClr val="EDF3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713232" y="3383280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Adquisición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2971800" y="338328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22 fuentes y CI en verde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5961888" y="3364992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5961888" y="3374136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OPERATIVO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9528048" y="338328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Monitorear horario del cron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713232" y="3950208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Backend / auth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2971800" y="3950208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Supabase Auth y perfil real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5961888" y="3931920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961888" y="3941064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1B2A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0E1B2A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528048" y="39502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Recuperación y rol admin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658368" y="4443984"/>
            <a:ext cx="10881360" cy="493776"/>
          </a:xfrm>
          <a:prstGeom prst="rect">
            <a:avLst/>
          </a:prstGeom>
          <a:solidFill>
            <a:srgbClr val="EDF3F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713232" y="4517136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Recomendación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2971800" y="4517136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Ranking local y señales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961888" y="4498848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B94C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5961888" y="4507992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9528048" y="45171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Persistir señales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713232" y="5084064"/>
            <a:ext cx="1965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Maps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971800" y="5084064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70"/>
              <a:buFont typeface="Arial"/>
              <a:buNone/>
            </a:pPr>
            <a:r>
              <a:rPr lang="en-US" sz="97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Leaflet/OSM · 509 ubicados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5961888" y="5065776"/>
            <a:ext cx="1143000" cy="283464"/>
          </a:xfrm>
          <a:prstGeom prst="roundRect">
            <a:avLst>
              <a:gd fmla="val 19355" name="adj"/>
            </a:avLst>
          </a:prstGeom>
          <a:solidFill>
            <a:srgbClr val="74859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5961888" y="5074920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9528048" y="5084064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970"/>
              <a:buFont typeface="Arial"/>
              <a:buNone/>
            </a:pPr>
            <a:r>
              <a:rPr b="1" lang="en-US" sz="97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Cobertura y UX móvil</a:t>
            </a:r>
            <a:endParaRPr sz="9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13232" y="5650992"/>
            <a:ext cx="10826496" cy="493776"/>
          </a:xfrm>
          <a:prstGeom prst="roundRect">
            <a:avLst>
              <a:gd fmla="val 7407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932688" y="57607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Estado global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2103120" y="5724144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Producto integrado; riesgo concentrado en calidad, seguridad y cierre.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04  ARQUITECTURA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Una cadena de valor, cinco responsabilidades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D7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C5D0D7"/>
                </a:solidFill>
                <a:latin typeface="Arial"/>
                <a:ea typeface="Arial"/>
                <a:cs typeface="Arial"/>
                <a:sym typeface="Arial"/>
              </a:rPr>
              <a:t>Cada capa tiene una función diferenciada y una evidencia verificable.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6"/>
          <p:cNvCxnSpPr/>
          <p:nvPr/>
        </p:nvCxnSpPr>
        <p:spPr>
          <a:xfrm>
            <a:off x="2459736" y="315468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5470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6"/>
          <p:cNvSpPr/>
          <p:nvPr/>
        </p:nvSpPr>
        <p:spPr>
          <a:xfrm>
            <a:off x="603504" y="2029968"/>
            <a:ext cx="1975104" cy="2212848"/>
          </a:xfrm>
          <a:prstGeom prst="roundRect">
            <a:avLst>
              <a:gd fmla="val 2778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768096" y="2267712"/>
            <a:ext cx="475488" cy="475488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768096" y="2350008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768096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Fuentes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768096" y="3383280"/>
            <a:ext cx="1600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Municipios · centros · ticketing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6"/>
          <p:cNvCxnSpPr/>
          <p:nvPr/>
        </p:nvCxnSpPr>
        <p:spPr>
          <a:xfrm>
            <a:off x="768096" y="4005072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E96F5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6"/>
          <p:cNvCxnSpPr/>
          <p:nvPr/>
        </p:nvCxnSpPr>
        <p:spPr>
          <a:xfrm>
            <a:off x="4764024" y="315468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5470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6"/>
          <p:cNvSpPr/>
          <p:nvPr/>
        </p:nvSpPr>
        <p:spPr>
          <a:xfrm>
            <a:off x="2907792" y="2029968"/>
            <a:ext cx="1975104" cy="2212848"/>
          </a:xfrm>
          <a:prstGeom prst="roundRect">
            <a:avLst>
              <a:gd fmla="val 2778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3072384" y="2267712"/>
            <a:ext cx="475488" cy="475488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python.png" id="262" name="Google Shape;2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7248" y="23225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/>
          <p:nvPr/>
        </p:nvSpPr>
        <p:spPr>
          <a:xfrm>
            <a:off x="3072384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Adquisición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072384" y="3383280"/>
            <a:ext cx="1600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Python + NVIDIA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6"/>
          <p:cNvCxnSpPr/>
          <p:nvPr/>
        </p:nvCxnSpPr>
        <p:spPr>
          <a:xfrm>
            <a:off x="3072384" y="4005072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D6A5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6"/>
          <p:cNvCxnSpPr/>
          <p:nvPr/>
        </p:nvCxnSpPr>
        <p:spPr>
          <a:xfrm>
            <a:off x="7068312" y="315468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5470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6"/>
          <p:cNvSpPr/>
          <p:nvPr/>
        </p:nvSpPr>
        <p:spPr>
          <a:xfrm>
            <a:off x="5212080" y="2029968"/>
            <a:ext cx="1975104" cy="2212848"/>
          </a:xfrm>
          <a:prstGeom prst="roundRect">
            <a:avLst>
              <a:gd fmla="val 2778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5376672" y="2267712"/>
            <a:ext cx="475488" cy="475488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supabase.png" id="269" name="Google Shape;2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1536" y="23225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/>
          <p:nvPr/>
        </p:nvSpPr>
        <p:spPr>
          <a:xfrm>
            <a:off x="5376672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376672" y="3383280"/>
            <a:ext cx="1600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Supabase + PostgreSQL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6"/>
          <p:cNvCxnSpPr/>
          <p:nvPr/>
        </p:nvCxnSpPr>
        <p:spPr>
          <a:xfrm>
            <a:off x="5376672" y="4005072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118A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6"/>
          <p:cNvCxnSpPr/>
          <p:nvPr/>
        </p:nvCxnSpPr>
        <p:spPr>
          <a:xfrm>
            <a:off x="9372600" y="3154680"/>
            <a:ext cx="438912" cy="0"/>
          </a:xfrm>
          <a:prstGeom prst="straightConnector1">
            <a:avLst/>
          </a:prstGeom>
          <a:noFill/>
          <a:ln cap="flat" cmpd="sng" w="25400">
            <a:solidFill>
              <a:srgbClr val="54708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6"/>
          <p:cNvSpPr/>
          <p:nvPr/>
        </p:nvSpPr>
        <p:spPr>
          <a:xfrm>
            <a:off x="7516368" y="2029968"/>
            <a:ext cx="1975104" cy="2212848"/>
          </a:xfrm>
          <a:prstGeom prst="roundRect">
            <a:avLst>
              <a:gd fmla="val 2778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680960" y="2267712"/>
            <a:ext cx="475488" cy="475488"/>
          </a:xfrm>
          <a:prstGeom prst="roundRect">
            <a:avLst>
              <a:gd fmla="val 961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angular.png" id="276" name="Google Shape;2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5824" y="232257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6"/>
          <p:cNvSpPr/>
          <p:nvPr/>
        </p:nvSpPr>
        <p:spPr>
          <a:xfrm>
            <a:off x="7680960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680960" y="3383280"/>
            <a:ext cx="1600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Angular + Ionic + Vercel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6"/>
          <p:cNvCxnSpPr/>
          <p:nvPr/>
        </p:nvCxnSpPr>
        <p:spPr>
          <a:xfrm>
            <a:off x="7680960" y="4005072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4386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6"/>
          <p:cNvSpPr/>
          <p:nvPr/>
        </p:nvSpPr>
        <p:spPr>
          <a:xfrm>
            <a:off x="9820656" y="2029968"/>
            <a:ext cx="1975104" cy="2212848"/>
          </a:xfrm>
          <a:prstGeom prst="roundRect">
            <a:avLst>
              <a:gd fmla="val 2778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9985248" y="2267712"/>
            <a:ext cx="475488" cy="475488"/>
          </a:xfrm>
          <a:prstGeom prst="ellipse">
            <a:avLst/>
          </a:prstGeom>
          <a:solidFill>
            <a:srgbClr val="B94C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9985248" y="2350008"/>
            <a:ext cx="47548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9985248" y="29718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9985248" y="3383280"/>
            <a:ext cx="1600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Descubren · filtran · interactúan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6"/>
          <p:cNvCxnSpPr/>
          <p:nvPr/>
        </p:nvCxnSpPr>
        <p:spPr>
          <a:xfrm>
            <a:off x="9985248" y="4005072"/>
            <a:ext cx="914400" cy="0"/>
          </a:xfrm>
          <a:prstGeom prst="straightConnector1">
            <a:avLst/>
          </a:prstGeom>
          <a:noFill/>
          <a:ln cap="flat" cmpd="sng" w="38100">
            <a:solidFill>
              <a:srgbClr val="B94C6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6"/>
          <p:cNvSpPr/>
          <p:nvPr/>
        </p:nvSpPr>
        <p:spPr>
          <a:xfrm>
            <a:off x="1975104" y="4828032"/>
            <a:ext cx="8229600" cy="658368"/>
          </a:xfrm>
          <a:prstGeom prst="roundRect">
            <a:avLst>
              <a:gd fmla="val 6944" name="adj"/>
            </a:avLst>
          </a:prstGeom>
          <a:solidFill>
            <a:srgbClr val="1D3447"/>
          </a:solidFill>
          <a:ln cap="flat" cmpd="sng" w="12700">
            <a:solidFill>
              <a:srgbClr val="1D3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2240280" y="4974336"/>
            <a:ext cx="347472" cy="347472"/>
          </a:xfrm>
          <a:prstGeom prst="roundRect">
            <a:avLst>
              <a:gd fmla="val 1315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githubactions.png" id="288" name="Google Shape;2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95144" y="50292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6"/>
          <p:cNvSpPr/>
          <p:nvPr/>
        </p:nvSpPr>
        <p:spPr>
          <a:xfrm>
            <a:off x="2761488" y="4928616"/>
            <a:ext cx="7040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GitHub Actions orquesta pruebas, extracción programada, checkpoints y artefactos de evidencia.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89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28896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6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800">
              <a:solidFill>
                <a:srgbClr val="8092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05  EXPERIENCIA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La interfaz ya consume el catálogo real y demuestra el recorrido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Dos recorridos verificados en producción.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658368" y="1737360"/>
            <a:ext cx="5285232" cy="3364992"/>
          </a:xfrm>
          <a:prstGeom prst="roundRect">
            <a:avLst>
              <a:gd fmla="val 163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236208" y="1737360"/>
            <a:ext cx="5285232" cy="3364992"/>
          </a:xfrm>
          <a:prstGeom prst="roundRect">
            <a:avLst>
              <a:gd fmla="val 163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recursos\capturas\app_listado_b.png" id="302" name="Google Shape;3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993392"/>
            <a:ext cx="4919472" cy="2240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CAPSTONE -20260924T184555Z-1-001\CAPSTONE_\Fase 2\Evidencias Proyecto\ppt capsula\recursos\capturas\app_parati.png" id="303" name="Google Shape;3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088" y="1993392"/>
            <a:ext cx="4919472" cy="2240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"/>
          <p:cNvSpPr/>
          <p:nvPr/>
        </p:nvSpPr>
        <p:spPr>
          <a:xfrm>
            <a:off x="859536" y="4407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01  DESCUBRIR Y FILTRAR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437376" y="4407408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02  PARA TI Y SEÑALES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859536" y="470001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50"/>
              <a:buFont typeface="Cambria"/>
              <a:buNone/>
            </a:pPr>
            <a:r>
              <a:rPr b="1" lang="en-US" sz="10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Listado, filtros y detalle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437376" y="4700016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50"/>
              <a:buFont typeface="Cambria"/>
              <a:buNone/>
            </a:pPr>
            <a:r>
              <a:rPr b="1" lang="en-US" sz="10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Personalización explicable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658368" y="5504688"/>
            <a:ext cx="10863072" cy="502920"/>
          </a:xfrm>
          <a:prstGeom prst="roundRect">
            <a:avLst>
              <a:gd fmla="val 5455" name="adj"/>
            </a:avLst>
          </a:prstGeom>
          <a:solidFill>
            <a:srgbClr val="E8F1F4"/>
          </a:solidFill>
          <a:ln cap="flat" cmpd="sng" w="12700">
            <a:solidFill>
              <a:srgbClr val="E8F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868680" y="562356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EVIDENCIA QA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1901952" y="5577840"/>
            <a:ext cx="9070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Catálogo, búsqueda, filtros, detalle, calendario, mapa y Para ti fueron probados; quedan hallazgos móviles.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4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"/>
          <p:cNvSpPr txBox="1"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06  FRONTEND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A242D"/>
                </a:solidFill>
                <a:latin typeface="Cambria"/>
                <a:ea typeface="Cambria"/>
                <a:cs typeface="Cambria"/>
                <a:sym typeface="Cambria"/>
              </a:rPr>
              <a:t>Funcionamiento técnico del frontend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676656" y="129844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Versión desplegada y verificada: Angular 22, Ionic 9, Supabase y Vercel.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9372600" y="393192"/>
            <a:ext cx="2011680" cy="310896"/>
          </a:xfrm>
          <a:prstGeom prst="roundRect">
            <a:avLst>
              <a:gd fmla="val 16667" name="adj"/>
            </a:avLst>
          </a:prstGeom>
          <a:solidFill>
            <a:srgbClr val="FAE8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06A4E"/>
                </a:solidFill>
                <a:latin typeface="Arial"/>
                <a:ea typeface="Arial"/>
                <a:cs typeface="Arial"/>
                <a:sym typeface="Arial"/>
              </a:rPr>
              <a:t>IMPLEMENTADO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685800" y="178308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C8D0D5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941832" y="200253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Arquitectura de componentes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941832" y="246888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Páginas standalone, layout compartido y componentes reutilizables.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941832" y="3054096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ANGULAR 22 · IONIC 9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6245352" y="178308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C8D0D5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 txBox="1"/>
          <p:nvPr/>
        </p:nvSpPr>
        <p:spPr>
          <a:xfrm>
            <a:off x="6501384" y="200253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Servicios e integración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6501384" y="246888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SupabaseService, EventosService y RecomendacionService.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6501384" y="3054096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CATÁLOGO · AUTH · SEÑALES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685800" y="3749039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C8D0D5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941832" y="396849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Gestión de estado y navegación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941832" y="443484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Signals, rutas lazy y estados de carga, error y vacío.</a:t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941832" y="5020055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RUTAS Y ESTADOS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6245352" y="3749039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875">
            <a:solidFill>
              <a:srgbClr val="C8D0D5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6501384" y="396849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Evidencia técnica y rendimiento</a:t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6501384" y="443484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Vercel productivo, 17 casos con resultado y HTML promedio de 0,409 s.</a:t>
            </a:r>
            <a:endParaRPr/>
          </a:p>
        </p:txBody>
      </p:sp>
      <p:sp>
        <p:nvSpPr>
          <p:cNvPr id="336" name="Google Shape;336;p8"/>
          <p:cNvSpPr txBox="1"/>
          <p:nvPr/>
        </p:nvSpPr>
        <p:spPr>
          <a:xfrm>
            <a:off x="6501384" y="5020055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EVIDENCIA DISPONIBLE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685800" y="5760720"/>
            <a:ext cx="10817352" cy="420624"/>
          </a:xfrm>
          <a:prstGeom prst="roundRect">
            <a:avLst>
              <a:gd fmla="val 1666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914400" y="5879592"/>
            <a:ext cx="10378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interfaz consume Supabase; quedan correcciones móviles y validación de rendimiento real.</a:t>
            </a:r>
            <a:endParaRPr/>
          </a:p>
        </p:txBody>
      </p:sp>
      <p:sp>
        <p:nvSpPr>
          <p:cNvPr id="339" name="Google Shape;339;p8"/>
          <p:cNvSpPr txBox="1"/>
          <p:nvPr/>
        </p:nvSpPr>
        <p:spPr>
          <a:xfrm>
            <a:off x="658368" y="6510528"/>
            <a:ext cx="5029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2999E"/>
                </a:solidFill>
                <a:latin typeface="Arial"/>
                <a:ea typeface="Arial"/>
                <a:cs typeface="Arial"/>
                <a:sym typeface="Arial"/>
              </a:rPr>
              <a:t>Evento Cultural · Capstone 2026 · Fase 2</a:t>
            </a:r>
            <a:endParaRPr/>
          </a:p>
        </p:txBody>
      </p:sp>
      <p:sp>
        <p:nvSpPr>
          <p:cNvPr id="340" name="Google Shape;340;p8"/>
          <p:cNvSpPr txBox="1"/>
          <p:nvPr/>
        </p:nvSpPr>
        <p:spPr>
          <a:xfrm>
            <a:off x="11109960" y="6510528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92999E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07  DATOS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Supabase organiza catálogo, personas y trazabilidad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El modelo separa datos públicos, señales privadas y operación interna.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731520" y="1737360"/>
            <a:ext cx="530352" cy="530352"/>
          </a:xfrm>
          <a:prstGeom prst="roundRect">
            <a:avLst>
              <a:gd fmla="val 862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supabase.png" id="350" name="Google Shape;3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" y="1792224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9"/>
          <p:cNvSpPr/>
          <p:nvPr/>
        </p:nvSpPr>
        <p:spPr>
          <a:xfrm>
            <a:off x="141732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SUPABASE · POSTGRESQL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731520" y="2514600"/>
            <a:ext cx="290779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960120" y="27889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CATÁLOGO PÚBLICO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78408" y="3319272"/>
            <a:ext cx="82296" cy="82296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1170432" y="3218688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events · venues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978408" y="3739896"/>
            <a:ext cx="82296" cy="82296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1170432" y="3639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categories · organizers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978408" y="4160520"/>
            <a:ext cx="82296" cy="82296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1170432" y="4059936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event_categories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050792" y="2514600"/>
            <a:ext cx="290779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279392" y="27889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PERSONAS Y SEÑALES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4297680" y="3319272"/>
            <a:ext cx="82296" cy="82296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489704" y="3218688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profiles · roles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4297680" y="3739896"/>
            <a:ext cx="82296" cy="82296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4489704" y="3639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user_event_interactions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4297680" y="4160520"/>
            <a:ext cx="82296" cy="82296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489704" y="4059936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7370064" y="2514600"/>
            <a:ext cx="2907792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7598664" y="278892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GOBERNANZA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7616952" y="3319272"/>
            <a:ext cx="82296" cy="82296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7808976" y="3218688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b="1"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sources · event_provenance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7616952" y="3739896"/>
            <a:ext cx="82296" cy="82296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7808976" y="3639312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scrape_runs · catalog_staging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7616952" y="4160520"/>
            <a:ext cx="82296" cy="82296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7808976" y="4059936"/>
            <a:ext cx="2176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40"/>
              <a:buFont typeface="Arial"/>
              <a:buNone/>
            </a:pPr>
            <a:r>
              <a:rPr lang="en-US" sz="104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suppression rules</a:t>
            </a:r>
            <a:endParaRPr sz="10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731520" y="5230368"/>
            <a:ext cx="9546336" cy="585216"/>
          </a:xfrm>
          <a:prstGeom prst="roundRect">
            <a:avLst>
              <a:gd fmla="val 6250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950976" y="5376672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RLS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1508760" y="532180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Lectura pública controlada · escritura por roles · service role solo en automatización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8732520" y="5376672"/>
            <a:ext cx="1216152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8732520" y="5385816"/>
            <a:ext cx="121615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MIGRACIONES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4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"/>
          <p:cNvSpPr txBox="1"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08  MODELO ER</a:t>
            </a:r>
            <a:endParaRPr/>
          </a:p>
        </p:txBody>
      </p:sp>
      <p:sp>
        <p:nvSpPr>
          <p:cNvPr id="388" name="Google Shape;388;p10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1A242D"/>
                </a:solidFill>
                <a:latin typeface="Cambria"/>
                <a:ea typeface="Cambria"/>
                <a:cs typeface="Cambria"/>
                <a:sym typeface="Cambria"/>
              </a:rPr>
              <a:t>Mapa de datos: catálogo, trazabilidad y señales</a:t>
            </a:r>
            <a:endParaRPr/>
          </a:p>
        </p:txBody>
      </p:sp>
      <p:sp>
        <p:nvSpPr>
          <p:cNvPr id="389" name="Google Shape;389;p10"/>
          <p:cNvSpPr txBox="1"/>
          <p:nvPr/>
        </p:nvSpPr>
        <p:spPr>
          <a:xfrm>
            <a:off x="676656" y="129844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Vista ejecutiva basada en el modelo ER documentado y en las migraciones vigentes de Supabase.</a:t>
            </a:r>
            <a:endParaRPr/>
          </a:p>
        </p:txBody>
      </p:sp>
      <p:sp>
        <p:nvSpPr>
          <p:cNvPr id="390" name="Google Shape;390;p10"/>
          <p:cNvSpPr/>
          <p:nvPr/>
        </p:nvSpPr>
        <p:spPr>
          <a:xfrm>
            <a:off x="658368" y="1719072"/>
            <a:ext cx="7360920" cy="44988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DAD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896112" y="19202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CATÁLOGO Y TRAZABILIDAD</a:t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914400" y="2395728"/>
            <a:ext cx="1353312" cy="530352"/>
          </a:xfrm>
          <a:prstGeom prst="roundRect">
            <a:avLst>
              <a:gd fmla="val 16667" name="adj"/>
            </a:avLst>
          </a:prstGeom>
          <a:solidFill>
            <a:srgbClr val="FAE8E3"/>
          </a:solidFill>
          <a:ln cap="flat" cmpd="sng" w="16500">
            <a:solidFill>
              <a:srgbClr val="F06A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1024128" y="2551176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914400" y="3218688"/>
            <a:ext cx="1353312" cy="530352"/>
          </a:xfrm>
          <a:prstGeom prst="roundRect">
            <a:avLst>
              <a:gd fmla="val 16667" name="adj"/>
            </a:avLst>
          </a:prstGeom>
          <a:solidFill>
            <a:srgbClr val="F7F0DD"/>
          </a:solidFill>
          <a:ln cap="flat" cmpd="sng" w="16500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1024128" y="3374136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organizers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914400" y="4041648"/>
            <a:ext cx="1353312" cy="530352"/>
          </a:xfrm>
          <a:prstGeom prst="roundRect">
            <a:avLst>
              <a:gd fmla="val 16667" name="adj"/>
            </a:avLst>
          </a:prstGeom>
          <a:solidFill>
            <a:srgbClr val="E4F3F0"/>
          </a:solidFill>
          <a:ln cap="flat" cmpd="sng" w="16500">
            <a:solidFill>
              <a:srgbClr val="19A3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1024128" y="4197096"/>
            <a:ext cx="11338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communes</a:t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3136392" y="3090672"/>
            <a:ext cx="1847088" cy="530352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6500">
            <a:solidFill>
              <a:srgbClr val="0D1B2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3246120" y="3246120"/>
            <a:ext cx="16276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053328" y="2240280"/>
            <a:ext cx="1417320" cy="530352"/>
          </a:xfrm>
          <a:prstGeom prst="roundRect">
            <a:avLst>
              <a:gd fmla="val 16667" name="adj"/>
            </a:avLst>
          </a:prstGeom>
          <a:solidFill>
            <a:srgbClr val="F7F0DD"/>
          </a:solidFill>
          <a:ln cap="flat" cmpd="sng" w="16500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6163056" y="2395728"/>
            <a:ext cx="11978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categories</a:t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5760720" y="3081528"/>
            <a:ext cx="1993392" cy="530352"/>
          </a:xfrm>
          <a:prstGeom prst="roundRect">
            <a:avLst>
              <a:gd fmla="val 16667" name="adj"/>
            </a:avLst>
          </a:prstGeom>
          <a:solidFill>
            <a:srgbClr val="F7F0DD"/>
          </a:solidFill>
          <a:ln cap="flat" cmpd="sng" w="16500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 txBox="1"/>
          <p:nvPr/>
        </p:nvSpPr>
        <p:spPr>
          <a:xfrm>
            <a:off x="5870448" y="3236976"/>
            <a:ext cx="1773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event_categories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5980176" y="3922776"/>
            <a:ext cx="1554480" cy="530352"/>
          </a:xfrm>
          <a:prstGeom prst="roundRect">
            <a:avLst>
              <a:gd fmla="val 16667" name="adj"/>
            </a:avLst>
          </a:prstGeom>
          <a:solidFill>
            <a:srgbClr val="E4F3F0"/>
          </a:solidFill>
          <a:ln cap="flat" cmpd="sng" w="16500">
            <a:solidFill>
              <a:srgbClr val="19A3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6089904" y="4078224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media_assets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2816352" y="4681728"/>
            <a:ext cx="2487168" cy="530352"/>
          </a:xfrm>
          <a:prstGeom prst="roundRect">
            <a:avLst>
              <a:gd fmla="val 16667" name="adj"/>
            </a:avLst>
          </a:prstGeom>
          <a:solidFill>
            <a:srgbClr val="FAE8E3"/>
          </a:solidFill>
          <a:ln cap="flat" cmpd="sng" w="16500">
            <a:solidFill>
              <a:srgbClr val="F06A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2926080" y="4837176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event_provenance</a:t>
            </a:r>
            <a:endParaRPr/>
          </a:p>
        </p:txBody>
      </p:sp>
      <p:cxnSp>
        <p:nvCxnSpPr>
          <p:cNvPr id="408" name="Google Shape;408;p10"/>
          <p:cNvCxnSpPr/>
          <p:nvPr/>
        </p:nvCxnSpPr>
        <p:spPr>
          <a:xfrm>
            <a:off x="2267712" y="2660904"/>
            <a:ext cx="868680" cy="694944"/>
          </a:xfrm>
          <a:prstGeom prst="straightConnector1">
            <a:avLst/>
          </a:prstGeom>
          <a:noFill/>
          <a:ln cap="flat" cmpd="sng" w="17775">
            <a:solidFill>
              <a:srgbClr val="F06A4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09" name="Google Shape;409;p10"/>
          <p:cNvCxnSpPr/>
          <p:nvPr/>
        </p:nvCxnSpPr>
        <p:spPr>
          <a:xfrm>
            <a:off x="2267712" y="3483864"/>
            <a:ext cx="868680" cy="27432"/>
          </a:xfrm>
          <a:prstGeom prst="straightConnector1">
            <a:avLst/>
          </a:prstGeom>
          <a:noFill/>
          <a:ln cap="flat" cmpd="sng" w="17775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0" name="Google Shape;410;p10"/>
          <p:cNvCxnSpPr/>
          <p:nvPr/>
        </p:nvCxnSpPr>
        <p:spPr>
          <a:xfrm flipH="1" rot="10800000">
            <a:off x="2267712" y="3703320"/>
            <a:ext cx="868680" cy="603504"/>
          </a:xfrm>
          <a:prstGeom prst="straightConnector1">
            <a:avLst/>
          </a:prstGeom>
          <a:noFill/>
          <a:ln cap="flat" cmpd="sng" w="17775">
            <a:solidFill>
              <a:srgbClr val="19A38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1" name="Google Shape;411;p10"/>
          <p:cNvCxnSpPr/>
          <p:nvPr/>
        </p:nvCxnSpPr>
        <p:spPr>
          <a:xfrm flipH="1" rot="10800000">
            <a:off x="4983480" y="3346704"/>
            <a:ext cx="777240" cy="54864"/>
          </a:xfrm>
          <a:prstGeom prst="straightConnector1">
            <a:avLst/>
          </a:prstGeom>
          <a:noFill/>
          <a:ln cap="flat" cmpd="sng" w="17775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2" name="Google Shape;412;p10"/>
          <p:cNvCxnSpPr/>
          <p:nvPr/>
        </p:nvCxnSpPr>
        <p:spPr>
          <a:xfrm flipH="1" rot="10800000">
            <a:off x="4983480" y="2505456"/>
            <a:ext cx="1069848" cy="804672"/>
          </a:xfrm>
          <a:prstGeom prst="straightConnector1">
            <a:avLst/>
          </a:prstGeom>
          <a:noFill/>
          <a:ln cap="flat" cmpd="sng" w="15225">
            <a:solidFill>
              <a:srgbClr val="D8A72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3" name="Google Shape;413;p10"/>
          <p:cNvCxnSpPr/>
          <p:nvPr/>
        </p:nvCxnSpPr>
        <p:spPr>
          <a:xfrm>
            <a:off x="4983480" y="3621024"/>
            <a:ext cx="996696" cy="566928"/>
          </a:xfrm>
          <a:prstGeom prst="straightConnector1">
            <a:avLst/>
          </a:prstGeom>
          <a:noFill/>
          <a:ln cap="flat" cmpd="sng" w="15225">
            <a:solidFill>
              <a:srgbClr val="19A38E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14" name="Google Shape;414;p10"/>
          <p:cNvCxnSpPr/>
          <p:nvPr/>
        </p:nvCxnSpPr>
        <p:spPr>
          <a:xfrm>
            <a:off x="4059936" y="4096512"/>
            <a:ext cx="0" cy="585216"/>
          </a:xfrm>
          <a:prstGeom prst="straightConnector1">
            <a:avLst/>
          </a:prstGeom>
          <a:noFill/>
          <a:ln cap="flat" cmpd="sng" w="17775">
            <a:solidFill>
              <a:srgbClr val="F06A4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5" name="Google Shape;415;p10"/>
          <p:cNvSpPr/>
          <p:nvPr/>
        </p:nvSpPr>
        <p:spPr>
          <a:xfrm>
            <a:off x="8284464" y="1719072"/>
            <a:ext cx="3246120" cy="2770632"/>
          </a:xfrm>
          <a:prstGeom prst="roundRect">
            <a:avLst>
              <a:gd fmla="val 1666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 txBox="1"/>
          <p:nvPr/>
        </p:nvSpPr>
        <p:spPr>
          <a:xfrm>
            <a:off x="8531352" y="1920240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USUARIOS Y SEÑALES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8668512" y="2359152"/>
            <a:ext cx="2487168" cy="530352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6500">
            <a:solidFill>
              <a:srgbClr val="4D91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8778240" y="2514600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profiles</a:t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8668512" y="3154680"/>
            <a:ext cx="2487168" cy="530352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6500">
            <a:solidFill>
              <a:srgbClr val="19A38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8778240" y="3310128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user_event_interactions</a:t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8668512" y="3840480"/>
            <a:ext cx="2487168" cy="530352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6500">
            <a:solidFill>
              <a:srgbClr val="F06A4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8778240" y="3995928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/>
          </a:p>
        </p:txBody>
      </p:sp>
      <p:cxnSp>
        <p:nvCxnSpPr>
          <p:cNvPr id="423" name="Google Shape;423;p10"/>
          <p:cNvCxnSpPr/>
          <p:nvPr/>
        </p:nvCxnSpPr>
        <p:spPr>
          <a:xfrm>
            <a:off x="9912096" y="2889504"/>
            <a:ext cx="0" cy="265176"/>
          </a:xfrm>
          <a:prstGeom prst="straightConnector1">
            <a:avLst/>
          </a:prstGeom>
          <a:noFill/>
          <a:ln cap="flat" cmpd="sng" w="17775">
            <a:solidFill>
              <a:srgbClr val="4D91C7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424" name="Google Shape;424;p10"/>
          <p:cNvCxnSpPr/>
          <p:nvPr/>
        </p:nvCxnSpPr>
        <p:spPr>
          <a:xfrm rot="10800000">
            <a:off x="8019288" y="3419856"/>
            <a:ext cx="265176" cy="0"/>
          </a:xfrm>
          <a:prstGeom prst="straightConnector1">
            <a:avLst/>
          </a:prstGeom>
          <a:noFill/>
          <a:ln cap="flat" cmpd="sng" w="17775">
            <a:solidFill>
              <a:srgbClr val="19A38E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25" name="Google Shape;425;p10"/>
          <p:cNvCxnSpPr/>
          <p:nvPr/>
        </p:nvCxnSpPr>
        <p:spPr>
          <a:xfrm rot="10800000">
            <a:off x="8019288" y="3749039"/>
            <a:ext cx="265176" cy="356617"/>
          </a:xfrm>
          <a:prstGeom prst="straightConnector1">
            <a:avLst/>
          </a:prstGeom>
          <a:noFill/>
          <a:ln cap="flat" cmpd="sng" w="17775">
            <a:solidFill>
              <a:srgbClr val="F06A4E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426" name="Google Shape;426;p10"/>
          <p:cNvSpPr/>
          <p:nvPr/>
        </p:nvSpPr>
        <p:spPr>
          <a:xfrm>
            <a:off x="8284464" y="4736592"/>
            <a:ext cx="3246120" cy="1481328"/>
          </a:xfrm>
          <a:prstGeom prst="roundRect">
            <a:avLst>
              <a:gd fmla="val 16667" name="adj"/>
            </a:avLst>
          </a:prstGeom>
          <a:solidFill>
            <a:srgbClr val="EAEE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8531352" y="4937760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OPERACIÓN INTERNA</a:t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8668512" y="5367528"/>
            <a:ext cx="2487168" cy="5303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6500">
            <a:solidFill>
              <a:srgbClr val="4D91C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 txBox="1"/>
          <p:nvPr/>
        </p:nvSpPr>
        <p:spPr>
          <a:xfrm>
            <a:off x="8778240" y="5522976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A242D"/>
                </a:solidFill>
                <a:latin typeface="Arial"/>
                <a:ea typeface="Arial"/>
                <a:cs typeface="Arial"/>
                <a:sym typeface="Arial"/>
              </a:rPr>
              <a:t>scrape_runs · catalog_staging</a:t>
            </a:r>
            <a:endParaRPr/>
          </a:p>
        </p:txBody>
      </p:sp>
      <p:sp>
        <p:nvSpPr>
          <p:cNvPr id="430" name="Google Shape;430;p10"/>
          <p:cNvSpPr txBox="1"/>
          <p:nvPr/>
        </p:nvSpPr>
        <p:spPr>
          <a:xfrm>
            <a:off x="914400" y="5742432"/>
            <a:ext cx="6766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>
                <a:solidFill>
                  <a:srgbClr val="6B747C"/>
                </a:solidFill>
                <a:latin typeface="Arial"/>
                <a:ea typeface="Arial"/>
                <a:cs typeface="Arial"/>
                <a:sym typeface="Arial"/>
              </a:rPr>
              <a:t>Relación central: events conecta fuente, organizador, territorio, categorías, medios y procedencia.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8449056" y="6016752"/>
            <a:ext cx="2788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>
                <a:solidFill>
                  <a:srgbClr val="F06A4E"/>
                </a:solidFill>
                <a:latin typeface="Arial"/>
                <a:ea typeface="Arial"/>
                <a:cs typeface="Arial"/>
                <a:sym typeface="Arial"/>
              </a:rPr>
              <a:t>favorites fue reemplazada por interacciones.</a:t>
            </a:r>
            <a:endParaRPr/>
          </a:p>
        </p:txBody>
      </p:sp>
      <p:sp>
        <p:nvSpPr>
          <p:cNvPr id="432" name="Google Shape;432;p10"/>
          <p:cNvSpPr txBox="1"/>
          <p:nvPr/>
        </p:nvSpPr>
        <p:spPr>
          <a:xfrm>
            <a:off x="658368" y="6510528"/>
            <a:ext cx="5029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2999E"/>
                </a:solidFill>
                <a:latin typeface="Arial"/>
                <a:ea typeface="Arial"/>
                <a:cs typeface="Arial"/>
                <a:sym typeface="Arial"/>
              </a:rPr>
              <a:t>Evento Cultural · Capstone 2026 · Fase 2</a:t>
            </a:r>
            <a:endParaRPr/>
          </a:p>
        </p:txBody>
      </p:sp>
      <p:sp>
        <p:nvSpPr>
          <p:cNvPr id="433" name="Google Shape;433;p10"/>
          <p:cNvSpPr txBox="1"/>
          <p:nvPr/>
        </p:nvSpPr>
        <p:spPr>
          <a:xfrm>
            <a:off x="11109960" y="6510528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92999E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1"/>
          <p:cNvSpPr txBox="1"/>
          <p:nvPr/>
        </p:nvSpPr>
        <p:spPr>
          <a:xfrm>
            <a:off x="658368" y="3840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09  BACKEND</a:t>
            </a:r>
            <a:endParaRPr/>
          </a:p>
        </p:txBody>
      </p:sp>
      <p:sp>
        <p:nvSpPr>
          <p:cNvPr id="439" name="Google Shape;439;p11"/>
          <p:cNvSpPr txBox="1"/>
          <p:nvPr/>
        </p:nvSpPr>
        <p:spPr>
          <a:xfrm>
            <a:off x="658368" y="71323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Funcionamiento técnico del backend</a:t>
            </a:r>
            <a:endParaRPr/>
          </a:p>
        </p:txBody>
      </p:sp>
      <p:sp>
        <p:nvSpPr>
          <p:cNvPr id="440" name="Google Shape;440;p11"/>
          <p:cNvSpPr txBox="1"/>
          <p:nvPr/>
        </p:nvSpPr>
        <p:spPr>
          <a:xfrm>
            <a:off x="676656" y="129844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Backend gestionado por Supabase; no existe un servidor propio separado.</a:t>
            </a:r>
            <a:endParaRPr/>
          </a:p>
        </p:txBody>
      </p:sp>
      <p:sp>
        <p:nvSpPr>
          <p:cNvPr id="441" name="Google Shape;441;p11"/>
          <p:cNvSpPr/>
          <p:nvPr/>
        </p:nvSpPr>
        <p:spPr>
          <a:xfrm>
            <a:off x="9372600" y="393192"/>
            <a:ext cx="2011680" cy="310896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BAAS OPERATIVO</a:t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685800" y="178308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5875">
            <a:solidFill>
              <a:srgbClr val="627889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1"/>
          <p:cNvSpPr txBox="1"/>
          <p:nvPr/>
        </p:nvSpPr>
        <p:spPr>
          <a:xfrm>
            <a:off x="941832" y="200253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Autenticación y sesiones</a:t>
            </a:r>
            <a:endParaRPr/>
          </a:p>
        </p:txBody>
      </p:sp>
      <p:sp>
        <p:nvSpPr>
          <p:cNvPr id="444" name="Google Shape;444;p11"/>
          <p:cNvSpPr txBox="1"/>
          <p:nvPr/>
        </p:nvSpPr>
        <p:spPr>
          <a:xfrm>
            <a:off x="941832" y="246888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Registro e ingreso por contraseña, sesión persistente y OAuth preparado.</a:t>
            </a:r>
            <a:endParaRPr/>
          </a:p>
        </p:txBody>
      </p:sp>
      <p:sp>
        <p:nvSpPr>
          <p:cNvPr id="445" name="Google Shape;445;p11"/>
          <p:cNvSpPr txBox="1"/>
          <p:nvPr/>
        </p:nvSpPr>
        <p:spPr>
          <a:xfrm>
            <a:off x="941832" y="3054096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AUTH IMPLEMENTADA</a:t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6245352" y="1783080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5875">
            <a:solidFill>
              <a:srgbClr val="627889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 txBox="1"/>
          <p:nvPr/>
        </p:nvSpPr>
        <p:spPr>
          <a:xfrm>
            <a:off x="6501384" y="200253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y acceso a datos</a:t>
            </a:r>
            <a:endParaRPr/>
          </a:p>
        </p:txBody>
      </p:sp>
      <p:sp>
        <p:nvSpPr>
          <p:cNvPr id="448" name="Google Shape;448;p11"/>
          <p:cNvSpPr txBox="1"/>
          <p:nvPr/>
        </p:nvSpPr>
        <p:spPr>
          <a:xfrm>
            <a:off x="6501384" y="246888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supabase-js consulta PostgREST directamente y pagina el catálogo.</a:t>
            </a:r>
            <a:endParaRPr/>
          </a:p>
        </p:txBody>
      </p:sp>
      <p:sp>
        <p:nvSpPr>
          <p:cNvPr id="449" name="Google Shape;449;p11"/>
          <p:cNvSpPr txBox="1"/>
          <p:nvPr/>
        </p:nvSpPr>
        <p:spPr>
          <a:xfrm>
            <a:off x="6501384" y="3054096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CATÁLOGO REAL</a:t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685800" y="3749039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5875">
            <a:solidFill>
              <a:srgbClr val="627889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 txBox="1"/>
          <p:nvPr/>
        </p:nvSpPr>
        <p:spPr>
          <a:xfrm>
            <a:off x="941832" y="396849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RLS, autorización y seguridad</a:t>
            </a:r>
            <a:endParaRPr/>
          </a:p>
        </p:txBody>
      </p:sp>
      <p:sp>
        <p:nvSpPr>
          <p:cNvPr id="452" name="Google Shape;452;p11"/>
          <p:cNvSpPr txBox="1"/>
          <p:nvPr/>
        </p:nvSpPr>
        <p:spPr>
          <a:xfrm>
            <a:off x="941832" y="443484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RLS separa lectura pública, datos privados y service role del scraper.</a:t>
            </a:r>
            <a:endParaRPr/>
          </a:p>
        </p:txBody>
      </p:sp>
      <p:sp>
        <p:nvSpPr>
          <p:cNvPr id="453" name="Google Shape;453;p11"/>
          <p:cNvSpPr txBox="1"/>
          <p:nvPr/>
        </p:nvSpPr>
        <p:spPr>
          <a:xfrm>
            <a:off x="941832" y="5020055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RLS ACTIVA</a:t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6245352" y="3749039"/>
            <a:ext cx="5257800" cy="1691640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 cap="flat" cmpd="sng" w="15875">
            <a:solidFill>
              <a:srgbClr val="627889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1"/>
          <p:cNvSpPr txBox="1"/>
          <p:nvPr/>
        </p:nvSpPr>
        <p:spPr>
          <a:xfrm>
            <a:off x="6501384" y="3968496"/>
            <a:ext cx="47457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 de interacción y errores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6501384" y="4434840"/>
            <a:ext cx="47457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Una Edge Function elimina cuentas; recuperación y roles siguen pendientes.</a:t>
            </a:r>
            <a:endParaRPr/>
          </a:p>
        </p:txBody>
      </p:sp>
      <p:sp>
        <p:nvSpPr>
          <p:cNvPr id="457" name="Google Shape;457;p11"/>
          <p:cNvSpPr txBox="1"/>
          <p:nvPr/>
        </p:nvSpPr>
        <p:spPr>
          <a:xfrm>
            <a:off x="6501384" y="5020055"/>
            <a:ext cx="47457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19A38E"/>
                </a:solidFill>
                <a:latin typeface="Arial"/>
                <a:ea typeface="Arial"/>
                <a:cs typeface="Arial"/>
                <a:sym typeface="Arial"/>
              </a:rPr>
              <a:t>CIERRE PARCIAL</a:t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685800" y="5760720"/>
            <a:ext cx="10817352" cy="420624"/>
          </a:xfrm>
          <a:prstGeom prst="roundRect">
            <a:avLst>
              <a:gd fmla="val 16667" name="adj"/>
            </a:avLst>
          </a:prstGeom>
          <a:solidFill>
            <a:srgbClr val="16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1"/>
          <p:cNvSpPr txBox="1"/>
          <p:nvPr/>
        </p:nvSpPr>
        <p:spPr>
          <a:xfrm>
            <a:off x="914400" y="5879592"/>
            <a:ext cx="10378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D7DFE5"/>
                </a:solidFill>
                <a:latin typeface="Arial"/>
                <a:ea typeface="Arial"/>
                <a:cs typeface="Arial"/>
                <a:sym typeface="Arial"/>
              </a:rPr>
              <a:t>La clave privada permanece en GitHub Actions y Supabase; el navegador usa solo la anon key.</a:t>
            </a:r>
            <a:endParaRPr/>
          </a:p>
        </p:txBody>
      </p:sp>
      <p:sp>
        <p:nvSpPr>
          <p:cNvPr id="460" name="Google Shape;460;p11"/>
          <p:cNvSpPr txBox="1"/>
          <p:nvPr/>
        </p:nvSpPr>
        <p:spPr>
          <a:xfrm>
            <a:off x="658368" y="6510528"/>
            <a:ext cx="50292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2A0AA"/>
                </a:solidFill>
                <a:latin typeface="Arial"/>
                <a:ea typeface="Arial"/>
                <a:cs typeface="Arial"/>
                <a:sym typeface="Arial"/>
              </a:rPr>
              <a:t>Evento Cultural · Capstone 2026 · Fase 2</a:t>
            </a:r>
            <a:endParaRPr/>
          </a:p>
        </p:txBody>
      </p:sp>
      <p:sp>
        <p:nvSpPr>
          <p:cNvPr id="461" name="Google Shape;461;p11"/>
          <p:cNvSpPr txBox="1"/>
          <p:nvPr/>
        </p:nvSpPr>
        <p:spPr>
          <a:xfrm>
            <a:off x="11109960" y="6510528"/>
            <a:ext cx="4114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>
                <a:solidFill>
                  <a:srgbClr val="92A0A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10  USUARIOS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Las recomendaciones comienzan con señales, no con favoritos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La navegación genera evidencia de interés sin conservar un listado permanente.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12"/>
          <p:cNvCxnSpPr/>
          <p:nvPr/>
        </p:nvCxnSpPr>
        <p:spPr>
          <a:xfrm>
            <a:off x="1353312" y="2331720"/>
            <a:ext cx="1517904" cy="0"/>
          </a:xfrm>
          <a:prstGeom prst="straightConnector1">
            <a:avLst/>
          </a:prstGeom>
          <a:noFill/>
          <a:ln cap="flat" cmpd="sng" w="25400">
            <a:solidFill>
              <a:srgbClr val="C8D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1" name="Google Shape;471;p12"/>
          <p:cNvSpPr/>
          <p:nvPr/>
        </p:nvSpPr>
        <p:spPr>
          <a:xfrm>
            <a:off x="749808" y="2029968"/>
            <a:ext cx="603504" cy="603504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749808" y="2221992"/>
            <a:ext cx="6035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85216" y="290779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VISITAR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338328" y="3255264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39"/>
              <a:buFont typeface="Arial"/>
              <a:buNone/>
            </a:pPr>
            <a:r>
              <a:rPr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Explorar sin cuenta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2"/>
          <p:cNvCxnSpPr/>
          <p:nvPr/>
        </p:nvCxnSpPr>
        <p:spPr>
          <a:xfrm>
            <a:off x="3621024" y="2331720"/>
            <a:ext cx="1517904" cy="0"/>
          </a:xfrm>
          <a:prstGeom prst="straightConnector1">
            <a:avLst/>
          </a:prstGeom>
          <a:noFill/>
          <a:ln cap="flat" cmpd="sng" w="25400">
            <a:solidFill>
              <a:srgbClr val="C8D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2"/>
          <p:cNvSpPr/>
          <p:nvPr/>
        </p:nvSpPr>
        <p:spPr>
          <a:xfrm>
            <a:off x="3017520" y="2029968"/>
            <a:ext cx="603504" cy="603504"/>
          </a:xfrm>
          <a:prstGeom prst="ellipse">
            <a:avLst/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3017520" y="2221992"/>
            <a:ext cx="6035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2852928" y="290779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AUTENTICAR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606040" y="3255264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39"/>
              <a:buFont typeface="Arial"/>
              <a:buNone/>
            </a:pPr>
            <a:r>
              <a:rPr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Crear sesión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12"/>
          <p:cNvCxnSpPr/>
          <p:nvPr/>
        </p:nvCxnSpPr>
        <p:spPr>
          <a:xfrm>
            <a:off x="5888736" y="2331720"/>
            <a:ext cx="1517904" cy="0"/>
          </a:xfrm>
          <a:prstGeom prst="straightConnector1">
            <a:avLst/>
          </a:prstGeom>
          <a:noFill/>
          <a:ln cap="flat" cmpd="sng" w="25400">
            <a:solidFill>
              <a:srgbClr val="C8D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p12"/>
          <p:cNvSpPr/>
          <p:nvPr/>
        </p:nvSpPr>
        <p:spPr>
          <a:xfrm>
            <a:off x="5285232" y="2029968"/>
            <a:ext cx="603504" cy="603504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5285232" y="2221992"/>
            <a:ext cx="6035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5120640" y="290779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INTERACTUAR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873752" y="3255264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39"/>
              <a:buFont typeface="Arial"/>
              <a:buNone/>
            </a:pPr>
            <a:r>
              <a:rPr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Detalle · fuente · interés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12"/>
          <p:cNvCxnSpPr/>
          <p:nvPr/>
        </p:nvCxnSpPr>
        <p:spPr>
          <a:xfrm>
            <a:off x="8156448" y="2331720"/>
            <a:ext cx="1517904" cy="0"/>
          </a:xfrm>
          <a:prstGeom prst="straightConnector1">
            <a:avLst/>
          </a:prstGeom>
          <a:noFill/>
          <a:ln cap="flat" cmpd="sng" w="25400">
            <a:solidFill>
              <a:srgbClr val="C8D4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6" name="Google Shape;486;p12"/>
          <p:cNvSpPr/>
          <p:nvPr/>
        </p:nvSpPr>
        <p:spPr>
          <a:xfrm>
            <a:off x="7552944" y="2029968"/>
            <a:ext cx="603504" cy="603504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7552944" y="2221992"/>
            <a:ext cx="6035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7388352" y="290779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APRENDER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7141464" y="3255264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39"/>
              <a:buFont typeface="Arial"/>
              <a:buNone/>
            </a:pPr>
            <a:r>
              <a:rPr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Actualizar afinidades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9820656" y="2029968"/>
            <a:ext cx="603504" cy="603504"/>
          </a:xfrm>
          <a:prstGeom prst="ellipse">
            <a:avLst/>
          </a:prstGeom>
          <a:solidFill>
            <a:srgbClr val="B94C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9820656" y="2221992"/>
            <a:ext cx="6035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9656064" y="2907792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PRIORIZAR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9409176" y="3255264"/>
            <a:ext cx="14264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39"/>
              <a:buFont typeface="Arial"/>
              <a:buNone/>
            </a:pPr>
            <a:r>
              <a:rPr lang="en-US" sz="94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Ordenar eventos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749808" y="4315968"/>
            <a:ext cx="5074920" cy="1097280"/>
          </a:xfrm>
          <a:prstGeom prst="roundRect">
            <a:avLst>
              <a:gd fmla="val 4167" name="adj"/>
            </a:avLst>
          </a:prstGeom>
          <a:solidFill>
            <a:srgbClr val="E1F1EF"/>
          </a:solidFill>
          <a:ln cap="flat" cmpd="sng" w="12700">
            <a:solidFill>
              <a:srgbClr val="E1F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987552" y="4553712"/>
            <a:ext cx="1920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AUTENTICACIÓN IMPLEMENTADA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987552" y="48920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Registro, ingreso, sesión y perfil mínimo.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6144768" y="4315968"/>
            <a:ext cx="5084064" cy="1097280"/>
          </a:xfrm>
          <a:prstGeom prst="roundRect">
            <a:avLst>
              <a:gd fmla="val 4167" name="adj"/>
            </a:avLst>
          </a:prstGeom>
          <a:solidFill>
            <a:srgbClr val="F5E8EA"/>
          </a:solidFill>
          <a:ln cap="flat" cmpd="sng" w="12700">
            <a:solidFill>
              <a:srgbClr val="F5E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6382512" y="4553712"/>
            <a:ext cx="18745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PERSISTENCIA PARCIAL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6382512" y="48920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Las señales aún son locales; falta llevarlas a user_event_interactions.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11  RECOMENDACIÓN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ranking explicable y ajustable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D7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C5D0D7"/>
                </a:solidFill>
                <a:latin typeface="Arial"/>
                <a:ea typeface="Arial"/>
                <a:cs typeface="Arial"/>
                <a:sym typeface="Arial"/>
              </a:rPr>
              <a:t>La versión actual ordena señales y preferencias en memoria; falta persistirlas y validar sus pesos.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658368" y="1783080"/>
            <a:ext cx="6565392" cy="3401568"/>
          </a:xfrm>
          <a:prstGeom prst="roundRect">
            <a:avLst>
              <a:gd fmla="val 1613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960120" y="208483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7FC7C0"/>
                </a:solidFill>
                <a:latin typeface="Cambria"/>
                <a:ea typeface="Cambria"/>
                <a:cs typeface="Cambria"/>
                <a:sym typeface="Cambria"/>
              </a:rPr>
              <a:t>score(evento, usuario)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960120" y="274320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=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1389888" y="267004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1874520" y="2706624"/>
            <a:ext cx="24871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peso × señal</a:t>
            </a:r>
            <a:endParaRPr sz="2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4224528" y="2724912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+ vigencia + territorio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987552" y="3675888"/>
            <a:ext cx="109728" cy="109728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1225296" y="359359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Arial"/>
              <a:buNone/>
            </a:pPr>
            <a:r>
              <a:rPr b="1" lang="en-US" sz="9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2395728" y="3593592"/>
            <a:ext cx="3310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teatro · música · patrimonio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987552" y="4087368"/>
            <a:ext cx="109728" cy="109728"/>
          </a:xfrm>
          <a:prstGeom prst="ellipse">
            <a:avLst/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1225296" y="400507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Arial"/>
              <a:buNone/>
            </a:pPr>
            <a:r>
              <a:rPr b="1" lang="en-US" sz="9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Territorio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2395728" y="4005072"/>
            <a:ext cx="3310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comuna · región · distancia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987552" y="4498848"/>
            <a:ext cx="109728" cy="109728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1225296" y="441655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9"/>
              <a:buFont typeface="Arial"/>
              <a:buNone/>
            </a:pPr>
            <a:r>
              <a:rPr b="1" lang="en-US" sz="94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sz="9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2395728" y="4416552"/>
            <a:ext cx="3310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fecha · gratuidad · horario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7543800" y="1783080"/>
            <a:ext cx="3977640" cy="1572768"/>
          </a:xfrm>
          <a:prstGeom prst="roundRect">
            <a:avLst>
              <a:gd fmla="val 348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7827264" y="20482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SALIDA ACTUAL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7827264" y="2423160"/>
            <a:ext cx="16642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“Para ti”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7827264" y="2816352"/>
            <a:ext cx="3108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Eventos vigentes ordenados por afinidad durante la sesión.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7543800" y="3602736"/>
            <a:ext cx="3977640" cy="1581912"/>
          </a:xfrm>
          <a:prstGeom prst="roundRect">
            <a:avLst>
              <a:gd fmla="val 3468" name="adj"/>
            </a:avLst>
          </a:prstGeom>
          <a:solidFill>
            <a:srgbClr val="F3E8EC"/>
          </a:solidFill>
          <a:ln cap="flat" cmpd="sng" w="12700">
            <a:solidFill>
              <a:srgbClr val="F3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7827264" y="386791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7827264" y="422452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Fuera del ranking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7827264" y="46177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80"/>
              <a:buFont typeface="Arial"/>
              <a:buNone/>
            </a:pPr>
            <a:r>
              <a:rPr lang="en-US" sz="98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Descartados · vencidos · organizadores bloqueados</a:t>
            </a:r>
            <a:endParaRPr sz="9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89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28896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3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800">
              <a:solidFill>
                <a:srgbClr val="8092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4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12  GEOGRAFÍA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Mapa operativo: mejorar cobertura y experiencia móvil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Leaflet y OpenStreetMap funcionan en producción sin exponer una clave privada.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713232" y="1810512"/>
            <a:ext cx="4023360" cy="3886200"/>
          </a:xfrm>
          <a:prstGeom prst="roundRect">
            <a:avLst>
              <a:gd fmla="val 1647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/>
          <p:nvPr/>
        </p:nvSpPr>
        <p:spPr>
          <a:xfrm>
            <a:off x="987552" y="208483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DISPONIBLE AHORA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/>
          <p:nvPr/>
        </p:nvSpPr>
        <p:spPr>
          <a:xfrm>
            <a:off x="987552" y="248716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Leaflet + OpenStreetMap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/>
          <p:nvPr/>
        </p:nvSpPr>
        <p:spPr>
          <a:xfrm>
            <a:off x="1005840" y="3182112"/>
            <a:ext cx="109728" cy="109728"/>
          </a:xfrm>
          <a:prstGeom prst="ellipse">
            <a:avLst/>
          </a:prstGeom>
          <a:solidFill>
            <a:srgbClr val="22A6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1298448" y="30906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6E0E6"/>
                </a:solidFill>
                <a:latin typeface="Arial"/>
                <a:ea typeface="Arial"/>
                <a:cs typeface="Arial"/>
                <a:sym typeface="Arial"/>
              </a:rPr>
              <a:t>509 eventos ubicados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1005840" y="3694176"/>
            <a:ext cx="109728" cy="109728"/>
          </a:xfrm>
          <a:prstGeom prst="ellipse">
            <a:avLst/>
          </a:prstGeom>
          <a:solidFill>
            <a:srgbClr val="22A6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1298448" y="360273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6E0E6"/>
                </a:solidFill>
                <a:latin typeface="Arial"/>
                <a:ea typeface="Arial"/>
                <a:cs typeface="Arial"/>
                <a:sym typeface="Arial"/>
              </a:rPr>
              <a:t>región, comuna y dirección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/>
          <p:nvPr/>
        </p:nvSpPr>
        <p:spPr>
          <a:xfrm>
            <a:off x="1005840" y="4206240"/>
            <a:ext cx="109728" cy="109728"/>
          </a:xfrm>
          <a:prstGeom prst="ellipse">
            <a:avLst/>
          </a:prstGeom>
          <a:solidFill>
            <a:srgbClr val="22A6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1298448" y="41148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6E0E6"/>
                </a:solidFill>
                <a:latin typeface="Arial"/>
                <a:ea typeface="Arial"/>
                <a:cs typeface="Arial"/>
                <a:sym typeface="Arial"/>
              </a:rPr>
              <a:t>apertura desde la ficha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1005840" y="4718304"/>
            <a:ext cx="109728" cy="109728"/>
          </a:xfrm>
          <a:prstGeom prst="ellipse">
            <a:avLst/>
          </a:prstGeom>
          <a:solidFill>
            <a:srgbClr val="22A69A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1298448" y="462686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E0E6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6E0E6"/>
                </a:solidFill>
                <a:latin typeface="Arial"/>
                <a:ea typeface="Arial"/>
                <a:cs typeface="Arial"/>
                <a:sym typeface="Arial"/>
              </a:rPr>
              <a:t>743 sin ubicación aproximada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4"/>
          <p:cNvSpPr/>
          <p:nvPr/>
        </p:nvSpPr>
        <p:spPr>
          <a:xfrm>
            <a:off x="5285232" y="2359152"/>
            <a:ext cx="2176272" cy="2176272"/>
          </a:xfrm>
          <a:prstGeom prst="ellipse">
            <a:avLst/>
          </a:prstGeom>
          <a:solidFill>
            <a:srgbClr val="DCECF5"/>
          </a:solidFill>
          <a:ln cap="flat" cmpd="sng" w="15225">
            <a:solidFill>
              <a:srgbClr val="BBD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/>
          <p:nvPr/>
        </p:nvSpPr>
        <p:spPr>
          <a:xfrm>
            <a:off x="5815584" y="2889504"/>
            <a:ext cx="1115568" cy="1115568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6199632" y="3273552"/>
            <a:ext cx="347472" cy="34747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4"/>
          <p:cNvSpPr/>
          <p:nvPr/>
        </p:nvSpPr>
        <p:spPr>
          <a:xfrm>
            <a:off x="5742432" y="47091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4386B5"/>
                </a:solidFill>
                <a:latin typeface="Cambria"/>
                <a:ea typeface="Cambria"/>
                <a:cs typeface="Cambria"/>
                <a:sym typeface="Cambria"/>
              </a:rPr>
              <a:t>HALLAZGO MÓVIL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4"/>
          <p:cNvSpPr/>
          <p:nvPr/>
        </p:nvSpPr>
        <p:spPr>
          <a:xfrm>
            <a:off x="7973568" y="1920240"/>
            <a:ext cx="3456432" cy="1389888"/>
          </a:xfrm>
          <a:prstGeom prst="roundRect">
            <a:avLst>
              <a:gd fmla="val 32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8211312" y="21945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CORREGIR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8211312" y="261518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Mosaicos incompletos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7973568" y="3657600"/>
            <a:ext cx="3456432" cy="1389888"/>
          </a:xfrm>
          <a:prstGeom prst="roundRect">
            <a:avLst>
              <a:gd fmla="val 3289" name="adj"/>
            </a:avLst>
          </a:prstGeom>
          <a:solidFill>
            <a:srgbClr val="F2E8EC"/>
          </a:solidFill>
          <a:ln cap="flat" cmpd="sng" w="12700">
            <a:solidFill>
              <a:srgbClr val="F2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4"/>
          <p:cNvSpPr/>
          <p:nvPr/>
        </p:nvSpPr>
        <p:spPr>
          <a:xfrm>
            <a:off x="8211312" y="39319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AJUSTAR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4"/>
          <p:cNvSpPr/>
          <p:nvPr/>
        </p:nvSpPr>
        <p:spPr>
          <a:xfrm>
            <a:off x="8211312" y="4352544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Navbar y altura del mapa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4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4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13  ADQUISICIÓN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5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El scraper alimenta el producto; no lo reemplaza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5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Su objetivo es entregar un catálogo vigente, homogéneo y trazable.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15"/>
          <p:cNvCxnSpPr/>
          <p:nvPr/>
        </p:nvCxnSpPr>
        <p:spPr>
          <a:xfrm>
            <a:off x="2176272" y="2532888"/>
            <a:ext cx="603504" cy="0"/>
          </a:xfrm>
          <a:prstGeom prst="straightConnector1">
            <a:avLst/>
          </a:prstGeom>
          <a:noFill/>
          <a:ln cap="flat" cmpd="sng" w="25400">
            <a:solidFill>
              <a:srgbClr val="BFC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15"/>
          <p:cNvSpPr/>
          <p:nvPr/>
        </p:nvSpPr>
        <p:spPr>
          <a:xfrm>
            <a:off x="1097280" y="1975104"/>
            <a:ext cx="566928" cy="566928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"/>
          <p:cNvSpPr/>
          <p:nvPr/>
        </p:nvSpPr>
        <p:spPr>
          <a:xfrm>
            <a:off x="658368" y="2889504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FUENTES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493776" y="32735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Municipios · centros · ticketing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15"/>
          <p:cNvCxnSpPr/>
          <p:nvPr/>
        </p:nvCxnSpPr>
        <p:spPr>
          <a:xfrm>
            <a:off x="4480560" y="2532888"/>
            <a:ext cx="603504" cy="0"/>
          </a:xfrm>
          <a:prstGeom prst="straightConnector1">
            <a:avLst/>
          </a:prstGeom>
          <a:noFill/>
          <a:ln cap="flat" cmpd="sng" w="25400">
            <a:solidFill>
              <a:srgbClr val="BFC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15"/>
          <p:cNvSpPr/>
          <p:nvPr/>
        </p:nvSpPr>
        <p:spPr>
          <a:xfrm>
            <a:off x="3401568" y="197510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python.png" id="580" name="Google Shape;5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6432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15"/>
          <p:cNvSpPr/>
          <p:nvPr/>
        </p:nvSpPr>
        <p:spPr>
          <a:xfrm>
            <a:off x="2962656" y="2889504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NORMALIZAR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/>
          <p:nvPr/>
        </p:nvSpPr>
        <p:spPr>
          <a:xfrm>
            <a:off x="2798064" y="32735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Fecha · lugar · categorías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15"/>
          <p:cNvCxnSpPr/>
          <p:nvPr/>
        </p:nvCxnSpPr>
        <p:spPr>
          <a:xfrm>
            <a:off x="6784848" y="2532888"/>
            <a:ext cx="603504" cy="0"/>
          </a:xfrm>
          <a:prstGeom prst="straightConnector1">
            <a:avLst/>
          </a:prstGeom>
          <a:noFill/>
          <a:ln cap="flat" cmpd="sng" w="25400">
            <a:solidFill>
              <a:srgbClr val="BFC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15"/>
          <p:cNvSpPr/>
          <p:nvPr/>
        </p:nvSpPr>
        <p:spPr>
          <a:xfrm>
            <a:off x="5705856" y="197510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sqlite.png" id="585" name="Google Shape;5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5"/>
          <p:cNvSpPr/>
          <p:nvPr/>
        </p:nvSpPr>
        <p:spPr>
          <a:xfrm>
            <a:off x="5266944" y="2889504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DEDUPLICAR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5102352" y="32735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URL o clave combinada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15"/>
          <p:cNvCxnSpPr/>
          <p:nvPr/>
        </p:nvCxnSpPr>
        <p:spPr>
          <a:xfrm>
            <a:off x="9089136" y="2532888"/>
            <a:ext cx="603504" cy="0"/>
          </a:xfrm>
          <a:prstGeom prst="straightConnector1">
            <a:avLst/>
          </a:prstGeom>
          <a:noFill/>
          <a:ln cap="flat" cmpd="sng" w="25400">
            <a:solidFill>
              <a:srgbClr val="BFCED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p15"/>
          <p:cNvSpPr/>
          <p:nvPr/>
        </p:nvSpPr>
        <p:spPr>
          <a:xfrm>
            <a:off x="8010144" y="197510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nvidia.png" id="590" name="Google Shape;59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5008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5"/>
          <p:cNvSpPr/>
          <p:nvPr/>
        </p:nvSpPr>
        <p:spPr>
          <a:xfrm>
            <a:off x="7571232" y="2889504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ENRIQUECER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7406640" y="32735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OCR y redacción selectiva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10314432" y="1975104"/>
            <a:ext cx="566928" cy="566928"/>
          </a:xfrm>
          <a:prstGeom prst="roundRect">
            <a:avLst>
              <a:gd fmla="val 806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supabase.png" id="594" name="Google Shape;59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69296" y="20299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5"/>
          <p:cNvSpPr/>
          <p:nvPr/>
        </p:nvSpPr>
        <p:spPr>
          <a:xfrm>
            <a:off x="9875520" y="2889504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PUBLICAR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5"/>
          <p:cNvSpPr/>
          <p:nvPr/>
        </p:nvSpPr>
        <p:spPr>
          <a:xfrm>
            <a:off x="9710928" y="3273552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Staging · upsert · conciliación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713232" y="4334256"/>
            <a:ext cx="10789920" cy="1024128"/>
          </a:xfrm>
          <a:prstGeom prst="roundRect">
            <a:avLst>
              <a:gd fmla="val 4464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987552" y="45262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22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987552" y="491032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ED6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C2CED6"/>
                </a:solidFill>
                <a:latin typeface="Arial"/>
                <a:ea typeface="Arial"/>
                <a:cs typeface="Arial"/>
                <a:sym typeface="Arial"/>
              </a:rPr>
              <a:t>fuentes configuradas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/>
          <p:nvPr/>
        </p:nvSpPr>
        <p:spPr>
          <a:xfrm>
            <a:off x="3602736" y="45262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40 RPM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3602736" y="491032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ED6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C2CED6"/>
                </a:solidFill>
                <a:latin typeface="Arial"/>
                <a:ea typeface="Arial"/>
                <a:cs typeface="Arial"/>
                <a:sym typeface="Arial"/>
              </a:rPr>
              <a:t>límite NVIDIA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6217920" y="45262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69A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22A69A"/>
                </a:solidFill>
                <a:latin typeface="Cambria"/>
                <a:ea typeface="Cambria"/>
                <a:cs typeface="Cambria"/>
                <a:sym typeface="Cambria"/>
              </a:rPr>
              <a:t>run #25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6217920" y="491032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ED6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C2CED6"/>
                </a:solidFill>
                <a:latin typeface="Arial"/>
                <a:ea typeface="Arial"/>
                <a:cs typeface="Arial"/>
                <a:sym typeface="Arial"/>
              </a:rPr>
              <a:t>13 min 58 s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5"/>
          <p:cNvSpPr/>
          <p:nvPr/>
        </p:nvSpPr>
        <p:spPr>
          <a:xfrm>
            <a:off x="8833104" y="452628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4386B5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8833104" y="491032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ED6"/>
              </a:buClr>
              <a:buSzPts val="880"/>
              <a:buFont typeface="Arial"/>
              <a:buNone/>
            </a:pPr>
            <a:r>
              <a:rPr lang="en-US" sz="880">
                <a:solidFill>
                  <a:srgbClr val="C2CED6"/>
                </a:solidFill>
                <a:latin typeface="Arial"/>
                <a:ea typeface="Arial"/>
                <a:cs typeface="Arial"/>
                <a:sym typeface="Arial"/>
              </a:rPr>
              <a:t>artefactos CI</a:t>
            </a:r>
            <a:endParaRPr sz="8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5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6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14  OPERACIÓN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6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Seguridad y despliegue: responsabilidades separadas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0D7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C5D0D7"/>
                </a:solidFill>
                <a:latin typeface="Arial"/>
                <a:ea typeface="Arial"/>
                <a:cs typeface="Arial"/>
                <a:sym typeface="Arial"/>
              </a:rPr>
              <a:t>Las credenciales privadas nunca pertenecen al frontend ni al repositorio.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6"/>
          <p:cNvSpPr/>
          <p:nvPr/>
        </p:nvSpPr>
        <p:spPr>
          <a:xfrm>
            <a:off x="676656" y="1874520"/>
            <a:ext cx="2450592" cy="2011680"/>
          </a:xfrm>
          <a:prstGeom prst="roundRect">
            <a:avLst>
              <a:gd fmla="val 2727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6"/>
          <p:cNvSpPr/>
          <p:nvPr/>
        </p:nvSpPr>
        <p:spPr>
          <a:xfrm>
            <a:off x="877824" y="2121408"/>
            <a:ext cx="4572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angular.png" id="618" name="Google Shape;6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176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16"/>
          <p:cNvSpPr/>
          <p:nvPr/>
        </p:nvSpPr>
        <p:spPr>
          <a:xfrm>
            <a:off x="1463040" y="215798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4386B5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877824" y="2788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Vercel Hobby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6"/>
          <p:cNvSpPr/>
          <p:nvPr/>
        </p:nvSpPr>
        <p:spPr>
          <a:xfrm>
            <a:off x="877824" y="32186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anon key + RLS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3447288" y="1874520"/>
            <a:ext cx="2450592" cy="2011680"/>
          </a:xfrm>
          <a:prstGeom prst="roundRect">
            <a:avLst>
              <a:gd fmla="val 2727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6"/>
          <p:cNvSpPr/>
          <p:nvPr/>
        </p:nvSpPr>
        <p:spPr>
          <a:xfrm>
            <a:off x="3648456" y="2121408"/>
            <a:ext cx="4572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supabase.png" id="624" name="Google Shape;6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3320" y="2176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16"/>
          <p:cNvSpPr/>
          <p:nvPr/>
        </p:nvSpPr>
        <p:spPr>
          <a:xfrm>
            <a:off x="4233672" y="215798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6"/>
          <p:cNvSpPr/>
          <p:nvPr/>
        </p:nvSpPr>
        <p:spPr>
          <a:xfrm>
            <a:off x="3648456" y="2788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Supabase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6"/>
          <p:cNvSpPr/>
          <p:nvPr/>
        </p:nvSpPr>
        <p:spPr>
          <a:xfrm>
            <a:off x="3648456" y="32186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PostgreSQL + Auth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6"/>
          <p:cNvSpPr/>
          <p:nvPr/>
        </p:nvSpPr>
        <p:spPr>
          <a:xfrm>
            <a:off x="6217920" y="1874520"/>
            <a:ext cx="2450592" cy="2011680"/>
          </a:xfrm>
          <a:prstGeom prst="roundRect">
            <a:avLst>
              <a:gd fmla="val 2727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6"/>
          <p:cNvSpPr/>
          <p:nvPr/>
        </p:nvSpPr>
        <p:spPr>
          <a:xfrm>
            <a:off x="6419088" y="2121408"/>
            <a:ext cx="4572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githubactions.png" id="630" name="Google Shape;6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3952" y="2176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6"/>
          <p:cNvSpPr/>
          <p:nvPr/>
        </p:nvSpPr>
        <p:spPr>
          <a:xfrm>
            <a:off x="7004304" y="215798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D6A52D"/>
                </a:solidFill>
                <a:latin typeface="Arial"/>
                <a:ea typeface="Arial"/>
                <a:cs typeface="Arial"/>
                <a:sym typeface="Arial"/>
              </a:rPr>
              <a:t>AUTOMATIZACIÓN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6"/>
          <p:cNvSpPr/>
          <p:nvPr/>
        </p:nvSpPr>
        <p:spPr>
          <a:xfrm>
            <a:off x="6419088" y="2788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GitHub Actions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6419088" y="32186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Secrets + ejecución programada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6"/>
          <p:cNvSpPr/>
          <p:nvPr/>
        </p:nvSpPr>
        <p:spPr>
          <a:xfrm>
            <a:off x="8988552" y="1874520"/>
            <a:ext cx="2450592" cy="2011680"/>
          </a:xfrm>
          <a:prstGeom prst="roundRect">
            <a:avLst>
              <a:gd fmla="val 2727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6"/>
          <p:cNvSpPr/>
          <p:nvPr/>
        </p:nvSpPr>
        <p:spPr>
          <a:xfrm>
            <a:off x="9189720" y="2121408"/>
            <a:ext cx="457200" cy="4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CAPSTONE -20260924T184555Z-1-001\CAPSTONE_\Fase 2\Evidencias Proyecto\ppt capsula\diagramas_d2\iconos\png\python.png" id="636" name="Google Shape;6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44584" y="2176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6"/>
          <p:cNvSpPr/>
          <p:nvPr/>
        </p:nvSpPr>
        <p:spPr>
          <a:xfrm>
            <a:off x="9774936" y="2157984"/>
            <a:ext cx="1353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9189720" y="278892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Scraper Python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6"/>
          <p:cNvSpPr/>
          <p:nvPr/>
        </p:nvSpPr>
        <p:spPr>
          <a:xfrm>
            <a:off x="9189720" y="32186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CBD3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BFCBD3"/>
                </a:solidFill>
                <a:latin typeface="Arial"/>
                <a:ea typeface="Arial"/>
                <a:cs typeface="Arial"/>
                <a:sym typeface="Arial"/>
              </a:rPr>
              <a:t>service role privada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676656" y="4434840"/>
            <a:ext cx="5193792" cy="1024128"/>
          </a:xfrm>
          <a:prstGeom prst="roundRect">
            <a:avLst>
              <a:gd fmla="val 4464" name="adj"/>
            </a:avLst>
          </a:prstGeom>
          <a:solidFill>
            <a:srgbClr val="F3E6EA"/>
          </a:solidFill>
          <a:ln cap="flat" cmpd="sng" w="12700">
            <a:solidFill>
              <a:srgbClr val="F3E6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6"/>
          <p:cNvSpPr/>
          <p:nvPr/>
        </p:nvSpPr>
        <p:spPr>
          <a:xfrm>
            <a:off x="932688" y="4681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LÍMITE ACTUAL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6"/>
          <p:cNvSpPr/>
          <p:nvPr/>
        </p:nvSpPr>
        <p:spPr>
          <a:xfrm>
            <a:off x="932688" y="50109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Vercel Hobby excluye uso comercial; el cron presenta retrasos.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6"/>
          <p:cNvSpPr/>
          <p:nvPr/>
        </p:nvSpPr>
        <p:spPr>
          <a:xfrm>
            <a:off x="6163056" y="4434840"/>
            <a:ext cx="5193792" cy="1024128"/>
          </a:xfrm>
          <a:prstGeom prst="roundRect">
            <a:avLst>
              <a:gd fmla="val 4464" name="adj"/>
            </a:avLst>
          </a:prstGeom>
          <a:solidFill>
            <a:srgbClr val="DCEDEB"/>
          </a:solidFill>
          <a:ln cap="flat" cmpd="sng" w="12700">
            <a:solidFill>
              <a:srgbClr val="DCED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6"/>
          <p:cNvSpPr/>
          <p:nvPr/>
        </p:nvSpPr>
        <p:spPr>
          <a:xfrm>
            <a:off x="6419088" y="4681728"/>
            <a:ext cx="1143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ESCALA FUTURA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6"/>
          <p:cNvSpPr/>
          <p:nvPr/>
        </p:nvSpPr>
        <p:spPr>
          <a:xfrm>
            <a:off x="6419088" y="50109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Docker queda propuesto para despliegues posteriores.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6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89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28896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6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800">
              <a:solidFill>
                <a:srgbClr val="8092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7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15  CALIDAD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Dos capas de evidencia: automatización y plan de pruebas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Las cifras miden conjuntos distintos y no deben presentarse como un único porcentaje.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713232" y="1810512"/>
            <a:ext cx="2971800" cy="3520440"/>
          </a:xfrm>
          <a:prstGeom prst="roundRect">
            <a:avLst>
              <a:gd fmla="val 1846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7"/>
          <p:cNvSpPr/>
          <p:nvPr/>
        </p:nvSpPr>
        <p:spPr>
          <a:xfrm>
            <a:off x="987552" y="2157984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4200"/>
              <a:buFont typeface="Cambria"/>
              <a:buNone/>
            </a:pPr>
            <a:r>
              <a:rPr b="1" lang="en-US" sz="42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140</a:t>
            </a:r>
            <a:endParaRPr sz="4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987552" y="2816352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6DD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CBD6DD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7"/>
          <p:cNvSpPr/>
          <p:nvPr/>
        </p:nvSpPr>
        <p:spPr>
          <a:xfrm>
            <a:off x="1115568" y="3401568"/>
            <a:ext cx="2075688" cy="768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Conectores, normalización, pipeline y sincronización de datos.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1042416" y="4690872"/>
            <a:ext cx="2313432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1042416" y="4700016"/>
            <a:ext cx="23134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VERIFICADAS EN LOCAL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4114800" y="1956816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18A84"/>
                </a:solidFill>
                <a:latin typeface="Cambria"/>
                <a:ea typeface="Cambria"/>
                <a:cs typeface="Cambria"/>
                <a:sym typeface="Cambria"/>
              </a:rPr>
              <a:t>174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7"/>
          <p:cNvSpPr/>
          <p:nvPr/>
        </p:nvSpPr>
        <p:spPr>
          <a:xfrm>
            <a:off x="4114800" y="233172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casos planificados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5897880" y="1956816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7"/>
          <p:cNvSpPr/>
          <p:nvPr/>
        </p:nvSpPr>
        <p:spPr>
          <a:xfrm>
            <a:off x="5897880" y="233172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subplanes de prueba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4114800" y="28346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COBERTURA Y RESULTADOS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4114800" y="3383280"/>
            <a:ext cx="109728" cy="109728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4370832" y="3310128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Funcional e integración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7406640" y="3383280"/>
            <a:ext cx="109728" cy="109728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7662672" y="3310128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Seguridad y RLS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4114800" y="3950208"/>
            <a:ext cx="109728" cy="109728"/>
          </a:xfrm>
          <a:prstGeom prst="ellipse">
            <a:avLst/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370832" y="3877056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7406640" y="3950208"/>
            <a:ext cx="109728" cy="109728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7662672" y="3877056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Accesibilidad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7"/>
          <p:cNvSpPr/>
          <p:nvPr/>
        </p:nvSpPr>
        <p:spPr>
          <a:xfrm>
            <a:off x="4114800" y="4517136"/>
            <a:ext cx="109728" cy="109728"/>
          </a:xfrm>
          <a:prstGeom prst="ellipse">
            <a:avLst/>
          </a:prstGeom>
          <a:solidFill>
            <a:srgbClr val="B94C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4370832" y="4443984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Móvil y navegadores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7406640" y="4517136"/>
            <a:ext cx="109728" cy="109728"/>
          </a:xfrm>
          <a:prstGeom prst="ellipse">
            <a:avLst/>
          </a:prstGeom>
          <a:solidFill>
            <a:srgbClr val="536776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7662672" y="4443984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2532"/>
                </a:solidFill>
                <a:latin typeface="Arial"/>
                <a:ea typeface="Arial"/>
                <a:cs typeface="Arial"/>
                <a:sym typeface="Arial"/>
              </a:rPr>
              <a:t>15 aprobados · 2 fallidos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4114800" y="5157216"/>
            <a:ext cx="7040880" cy="566928"/>
          </a:xfrm>
          <a:prstGeom prst="roundRect">
            <a:avLst>
              <a:gd fmla="val 6452" name="adj"/>
            </a:avLst>
          </a:prstGeom>
          <a:solidFill>
            <a:srgbClr val="F2E8EC"/>
          </a:solidFill>
          <a:ln cap="flat" cmpd="sng" w="12700">
            <a:solidFill>
              <a:srgbClr val="F2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4343400" y="5340096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B94C6B"/>
                </a:solidFill>
                <a:latin typeface="Arial"/>
                <a:ea typeface="Arial"/>
                <a:cs typeface="Arial"/>
                <a:sym typeface="Arial"/>
              </a:rPr>
              <a:t>EVIDENCIA ACTUAL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5806440" y="52852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17 casos con resultado; 14 defectos abiertos; evidencia de frontend + CI.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7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8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16  CIERRE DE FASE 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Producto integrado: corresponde corregir y validar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El cierre exige resolver hallazgos prioritarios, no ampliar el alcance.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8"/>
          <p:cNvSpPr/>
          <p:nvPr/>
        </p:nvSpPr>
        <p:spPr>
          <a:xfrm>
            <a:off x="713232" y="184708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COMPLETADO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p18"/>
          <p:cNvCxnSpPr/>
          <p:nvPr/>
        </p:nvCxnSpPr>
        <p:spPr>
          <a:xfrm>
            <a:off x="713232" y="2231136"/>
            <a:ext cx="2834640" cy="0"/>
          </a:xfrm>
          <a:prstGeom prst="straightConnector1">
            <a:avLst/>
          </a:prstGeom>
          <a:noFill/>
          <a:ln cap="flat" cmpd="sng" w="38100">
            <a:solidFill>
              <a:srgbClr val="E96F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p18"/>
          <p:cNvSpPr/>
          <p:nvPr/>
        </p:nvSpPr>
        <p:spPr>
          <a:xfrm>
            <a:off x="713232" y="2606040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8"/>
          <p:cNvSpPr/>
          <p:nvPr/>
        </p:nvSpPr>
        <p:spPr>
          <a:xfrm>
            <a:off x="1188720" y="25420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Catálogo real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18"/>
          <p:cNvCxnSpPr/>
          <p:nvPr/>
        </p:nvCxnSpPr>
        <p:spPr>
          <a:xfrm>
            <a:off x="1188720" y="3127248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7" name="Google Shape;697;p18"/>
          <p:cNvSpPr/>
          <p:nvPr/>
        </p:nvSpPr>
        <p:spPr>
          <a:xfrm>
            <a:off x="713232" y="339242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8"/>
          <p:cNvSpPr/>
          <p:nvPr/>
        </p:nvSpPr>
        <p:spPr>
          <a:xfrm>
            <a:off x="1188720" y="33284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Autenticación mínima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18"/>
          <p:cNvCxnSpPr/>
          <p:nvPr/>
        </p:nvCxnSpPr>
        <p:spPr>
          <a:xfrm>
            <a:off x="1188720" y="3913632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18"/>
          <p:cNvSpPr/>
          <p:nvPr/>
        </p:nvSpPr>
        <p:spPr>
          <a:xfrm>
            <a:off x="713232" y="417880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8"/>
          <p:cNvSpPr/>
          <p:nvPr/>
        </p:nvSpPr>
        <p:spPr>
          <a:xfrm>
            <a:off x="1188720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Deploy y CI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8"/>
          <p:cNvSpPr/>
          <p:nvPr/>
        </p:nvSpPr>
        <p:spPr>
          <a:xfrm>
            <a:off x="4160520" y="184708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DEBE CERRARSE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18"/>
          <p:cNvCxnSpPr/>
          <p:nvPr/>
        </p:nvCxnSpPr>
        <p:spPr>
          <a:xfrm>
            <a:off x="4160520" y="2231136"/>
            <a:ext cx="2834640" cy="0"/>
          </a:xfrm>
          <a:prstGeom prst="straightConnector1">
            <a:avLst/>
          </a:prstGeom>
          <a:noFill/>
          <a:ln cap="flat" cmpd="sng" w="38100">
            <a:solidFill>
              <a:srgbClr val="118A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8"/>
          <p:cNvSpPr/>
          <p:nvPr/>
        </p:nvSpPr>
        <p:spPr>
          <a:xfrm>
            <a:off x="4160520" y="2606040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8"/>
          <p:cNvSpPr/>
          <p:nvPr/>
        </p:nvSpPr>
        <p:spPr>
          <a:xfrm>
            <a:off x="4636008" y="25420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Mapa y navbar móvil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6" name="Google Shape;706;p18"/>
          <p:cNvCxnSpPr/>
          <p:nvPr/>
        </p:nvCxnSpPr>
        <p:spPr>
          <a:xfrm>
            <a:off x="4636008" y="3127248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18"/>
          <p:cNvSpPr/>
          <p:nvPr/>
        </p:nvSpPr>
        <p:spPr>
          <a:xfrm>
            <a:off x="4160520" y="339242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8"/>
          <p:cNvSpPr/>
          <p:nvPr/>
        </p:nvSpPr>
        <p:spPr>
          <a:xfrm>
            <a:off x="4636008" y="33284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RLS, recuperación y roles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18"/>
          <p:cNvCxnSpPr/>
          <p:nvPr/>
        </p:nvCxnSpPr>
        <p:spPr>
          <a:xfrm>
            <a:off x="4636008" y="3913632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18"/>
          <p:cNvSpPr/>
          <p:nvPr/>
        </p:nvSpPr>
        <p:spPr>
          <a:xfrm>
            <a:off x="4160520" y="417880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4636008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Regresión de defectos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8"/>
          <p:cNvSpPr/>
          <p:nvPr/>
        </p:nvSpPr>
        <p:spPr>
          <a:xfrm>
            <a:off x="7607808" y="1847088"/>
            <a:ext cx="2880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DIFERIR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18"/>
          <p:cNvCxnSpPr/>
          <p:nvPr/>
        </p:nvCxnSpPr>
        <p:spPr>
          <a:xfrm>
            <a:off x="7607808" y="2231136"/>
            <a:ext cx="2834640" cy="0"/>
          </a:xfrm>
          <a:prstGeom prst="straightConnector1">
            <a:avLst/>
          </a:prstGeom>
          <a:noFill/>
          <a:ln cap="flat" cmpd="sng" w="38100">
            <a:solidFill>
              <a:srgbClr val="74859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18"/>
          <p:cNvSpPr/>
          <p:nvPr/>
        </p:nvSpPr>
        <p:spPr>
          <a:xfrm>
            <a:off x="7607808" y="2606040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8083296" y="254203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Nuevas fuentes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18"/>
          <p:cNvCxnSpPr/>
          <p:nvPr/>
        </p:nvCxnSpPr>
        <p:spPr>
          <a:xfrm>
            <a:off x="8083296" y="3127248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7" name="Google Shape;717;p18"/>
          <p:cNvSpPr/>
          <p:nvPr/>
        </p:nvSpPr>
        <p:spPr>
          <a:xfrm>
            <a:off x="7607808" y="3392424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8083296" y="3328416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Docker y monetización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9" name="Google Shape;719;p18"/>
          <p:cNvCxnSpPr/>
          <p:nvPr/>
        </p:nvCxnSpPr>
        <p:spPr>
          <a:xfrm>
            <a:off x="8083296" y="3913632"/>
            <a:ext cx="2240280" cy="0"/>
          </a:xfrm>
          <a:prstGeom prst="straightConnector1">
            <a:avLst/>
          </a:prstGeom>
          <a:noFill/>
          <a:ln cap="flat" cmpd="sng" w="10150">
            <a:solidFill>
              <a:srgbClr val="D6E0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0" name="Google Shape;720;p18"/>
          <p:cNvSpPr/>
          <p:nvPr/>
        </p:nvSpPr>
        <p:spPr>
          <a:xfrm>
            <a:off x="7607808" y="4178808"/>
            <a:ext cx="384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859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4859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8083296" y="41148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300"/>
              <a:buFont typeface="Cambria"/>
              <a:buNone/>
            </a:pPr>
            <a:r>
              <a:rPr lang="en-US" sz="13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Funciones de Fase 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713232" y="5349240"/>
            <a:ext cx="10698480" cy="530352"/>
          </a:xfrm>
          <a:prstGeom prst="roundRect">
            <a:avLst>
              <a:gd fmla="val 6897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932688" y="5504688"/>
            <a:ext cx="13350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REGLA DE ALCANCE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8"/>
          <p:cNvSpPr/>
          <p:nvPr/>
        </p:nvSpPr>
        <p:spPr>
          <a:xfrm>
            <a:off x="2395728" y="5449824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se incorpora una capacidad nueva mientras existan defectos altos sin cerrar.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8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9"/>
          <p:cNvSpPr/>
          <p:nvPr/>
        </p:nvSpPr>
        <p:spPr>
          <a:xfrm>
            <a:off x="658368" y="329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18A84"/>
                </a:solidFill>
                <a:latin typeface="Arial"/>
                <a:ea typeface="Arial"/>
                <a:cs typeface="Arial"/>
                <a:sym typeface="Arial"/>
              </a:rPr>
              <a:t>17  HOJA DE RUTA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658368" y="658368"/>
            <a:ext cx="10835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De la segunda evaluación al cierre del proyecto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9"/>
          <p:cNvSpPr/>
          <p:nvPr/>
        </p:nvSpPr>
        <p:spPr>
          <a:xfrm>
            <a:off x="658368" y="1234440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La Fase 3 debe presentar un producto integrado, probado y documentado.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p19"/>
          <p:cNvCxnSpPr/>
          <p:nvPr/>
        </p:nvCxnSpPr>
        <p:spPr>
          <a:xfrm>
            <a:off x="1024128" y="3310128"/>
            <a:ext cx="10058400" cy="0"/>
          </a:xfrm>
          <a:prstGeom prst="straightConnector1">
            <a:avLst/>
          </a:prstGeom>
          <a:noFill/>
          <a:ln cap="flat" cmpd="sng" w="38100">
            <a:solidFill>
              <a:srgbClr val="BBCA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19"/>
          <p:cNvSpPr/>
          <p:nvPr/>
        </p:nvSpPr>
        <p:spPr>
          <a:xfrm>
            <a:off x="996696" y="2990088"/>
            <a:ext cx="658368" cy="658368"/>
          </a:xfrm>
          <a:prstGeom prst="ellipse">
            <a:avLst/>
          </a:prstGeom>
          <a:solidFill>
            <a:srgbClr val="E96F51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9"/>
          <p:cNvSpPr/>
          <p:nvPr/>
        </p:nvSpPr>
        <p:spPr>
          <a:xfrm>
            <a:off x="996696" y="3200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9"/>
          <p:cNvSpPr/>
          <p:nvPr/>
        </p:nvSpPr>
        <p:spPr>
          <a:xfrm>
            <a:off x="768096" y="20025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S16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9"/>
          <p:cNvSpPr/>
          <p:nvPr/>
        </p:nvSpPr>
        <p:spPr>
          <a:xfrm>
            <a:off x="566928" y="236829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Segunda evaluación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466344" y="3977640"/>
            <a:ext cx="1755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Producto integrado · evidencia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3236976" y="2990088"/>
            <a:ext cx="658368" cy="658368"/>
          </a:xfrm>
          <a:prstGeom prst="ellipse">
            <a:avLst/>
          </a:prstGeom>
          <a:solidFill>
            <a:srgbClr val="D6A52D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3236976" y="3200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9"/>
          <p:cNvSpPr/>
          <p:nvPr/>
        </p:nvSpPr>
        <p:spPr>
          <a:xfrm>
            <a:off x="3008376" y="20025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S16–S17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2807208" y="236829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Corregir hallazgos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9"/>
          <p:cNvSpPr/>
          <p:nvPr/>
        </p:nvSpPr>
        <p:spPr>
          <a:xfrm>
            <a:off x="2706624" y="3977640"/>
            <a:ext cx="1755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Mapa · navbar · conteos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5477256" y="2990088"/>
            <a:ext cx="658368" cy="658368"/>
          </a:xfrm>
          <a:prstGeom prst="ellipse">
            <a:avLst/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9"/>
          <p:cNvSpPr/>
          <p:nvPr/>
        </p:nvSpPr>
        <p:spPr>
          <a:xfrm>
            <a:off x="5477256" y="3200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9"/>
          <p:cNvSpPr/>
          <p:nvPr/>
        </p:nvSpPr>
        <p:spPr>
          <a:xfrm>
            <a:off x="5248656" y="20025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8A84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118A84"/>
                </a:solidFill>
                <a:latin typeface="Cambria"/>
                <a:ea typeface="Cambria"/>
                <a:cs typeface="Cambria"/>
                <a:sym typeface="Cambria"/>
              </a:rPr>
              <a:t>S17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9"/>
          <p:cNvSpPr/>
          <p:nvPr/>
        </p:nvSpPr>
        <p:spPr>
          <a:xfrm>
            <a:off x="5047488" y="236829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Seguridad y regresión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4946904" y="3977640"/>
            <a:ext cx="1755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RLS · recuperación · defectos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7717536" y="2990088"/>
            <a:ext cx="658368" cy="658368"/>
          </a:xfrm>
          <a:prstGeom prst="ellipse">
            <a:avLst/>
          </a:prstGeom>
          <a:solidFill>
            <a:srgbClr val="4386B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7717536" y="3200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7488936" y="20025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86B5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4386B5"/>
                </a:solidFill>
                <a:latin typeface="Cambria"/>
                <a:ea typeface="Cambria"/>
                <a:cs typeface="Cambria"/>
                <a:sym typeface="Cambria"/>
              </a:rPr>
              <a:t>S18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7287768" y="236829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Evaluación final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9"/>
          <p:cNvSpPr/>
          <p:nvPr/>
        </p:nvSpPr>
        <p:spPr>
          <a:xfrm>
            <a:off x="7187184" y="3977640"/>
            <a:ext cx="1755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Fecha exacta por confirmar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9"/>
          <p:cNvSpPr/>
          <p:nvPr/>
        </p:nvSpPr>
        <p:spPr>
          <a:xfrm>
            <a:off x="9957816" y="2990088"/>
            <a:ext cx="658368" cy="658368"/>
          </a:xfrm>
          <a:prstGeom prst="ellipse">
            <a:avLst/>
          </a:prstGeom>
          <a:solidFill>
            <a:srgbClr val="B94C6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000000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9957816" y="3200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9729216" y="200253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4C6B"/>
              </a:buClr>
              <a:buSzPts val="1200"/>
              <a:buFont typeface="Cambria"/>
              <a:buNone/>
            </a:pPr>
            <a:r>
              <a:rPr b="1" lang="en-US" sz="1200">
                <a:solidFill>
                  <a:srgbClr val="B94C6B"/>
                </a:solidFill>
                <a:latin typeface="Cambria"/>
                <a:ea typeface="Cambria"/>
                <a:cs typeface="Cambria"/>
                <a:sym typeface="Cambria"/>
              </a:rPr>
              <a:t>S18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19"/>
          <p:cNvSpPr/>
          <p:nvPr/>
        </p:nvSpPr>
        <p:spPr>
          <a:xfrm>
            <a:off x="9528048" y="236829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532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172532"/>
                </a:solidFill>
                <a:latin typeface="Cambria"/>
                <a:ea typeface="Cambria"/>
                <a:cs typeface="Cambria"/>
                <a:sym typeface="Cambria"/>
              </a:rPr>
              <a:t>Cierre académico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9427464" y="3977640"/>
            <a:ext cx="17556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776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536776"/>
                </a:solidFill>
                <a:latin typeface="Arial"/>
                <a:ea typeface="Arial"/>
                <a:cs typeface="Arial"/>
                <a:sym typeface="Arial"/>
              </a:rPr>
              <a:t>Ajustes · evidencia · entrega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19"/>
          <p:cNvSpPr/>
          <p:nvPr/>
        </p:nvSpPr>
        <p:spPr>
          <a:xfrm>
            <a:off x="3063240" y="5093208"/>
            <a:ext cx="6108192" cy="566928"/>
          </a:xfrm>
          <a:prstGeom prst="roundRect">
            <a:avLst>
              <a:gd fmla="val 6452" name="adj"/>
            </a:avLst>
          </a:prstGeom>
          <a:solidFill>
            <a:srgbClr val="0E1B2A"/>
          </a:solidFill>
          <a:ln cap="flat" cmpd="sng" w="12700">
            <a:solidFill>
              <a:srgbClr val="0E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19"/>
          <p:cNvSpPr/>
          <p:nvPr/>
        </p:nvSpPr>
        <p:spPr>
          <a:xfrm>
            <a:off x="3063240" y="5248656"/>
            <a:ext cx="6108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INTEGRAR  ·  VALIDAR  ·  PRESENTAR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9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9A4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A99A4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9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7B8B9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800">
              <a:solidFill>
                <a:srgbClr val="7B8B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B2A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0"/>
          <p:cNvSpPr/>
          <p:nvPr/>
        </p:nvSpPr>
        <p:spPr>
          <a:xfrm>
            <a:off x="731520" y="566928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7C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7FC7C0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731520" y="1353312"/>
            <a:ext cx="74980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circuito principal ya está integrado.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731520" y="197510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 próximo riesgo es el cierre de calidad y seguridad.</a:t>
            </a:r>
            <a:endParaRPr sz="3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749808" y="2880360"/>
            <a:ext cx="7973568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4DB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C9D4DB"/>
                </a:solidFill>
                <a:latin typeface="Arial"/>
                <a:ea typeface="Arial"/>
                <a:cs typeface="Arial"/>
                <a:sym typeface="Arial"/>
              </a:rPr>
              <a:t>La Fase 2 ya demuestra datos reales, autenticación, despliegue y automatización; ahora debe cerrar hallazgos verificables.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4" name="Google Shape;774;p20"/>
          <p:cNvCxnSpPr/>
          <p:nvPr/>
        </p:nvCxnSpPr>
        <p:spPr>
          <a:xfrm>
            <a:off x="749808" y="4078224"/>
            <a:ext cx="7863840" cy="0"/>
          </a:xfrm>
          <a:prstGeom prst="straightConnector1">
            <a:avLst/>
          </a:prstGeom>
          <a:noFill/>
          <a:ln cap="flat" cmpd="sng" w="15225">
            <a:solidFill>
              <a:srgbClr val="2941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5" name="Google Shape;775;p20"/>
          <p:cNvSpPr/>
          <p:nvPr/>
        </p:nvSpPr>
        <p:spPr>
          <a:xfrm>
            <a:off x="749808" y="4462272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E96F51"/>
                </a:solidFill>
                <a:latin typeface="Cambria"/>
                <a:ea typeface="Cambria"/>
                <a:cs typeface="Cambria"/>
                <a:sym typeface="Cambria"/>
              </a:rPr>
              <a:t>S16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749808" y="490118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segunda evaluación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2852928" y="446227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52D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D6A52D"/>
                </a:solidFill>
                <a:latin typeface="Cambria"/>
                <a:ea typeface="Cambria"/>
                <a:cs typeface="Cambria"/>
                <a:sym typeface="Cambria"/>
              </a:rPr>
              <a:t>S18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2852928" y="4901184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evaluación final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5166360" y="4462272"/>
            <a:ext cx="2011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69A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22A69A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5166360" y="4901184"/>
            <a:ext cx="2011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CDD5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C1CDD5"/>
                </a:solidFill>
                <a:latin typeface="Arial"/>
                <a:ea typeface="Arial"/>
                <a:cs typeface="Arial"/>
                <a:sym typeface="Arial"/>
              </a:rPr>
              <a:t>semanas de proyecto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8823960" y="1143000"/>
            <a:ext cx="2212848" cy="4370832"/>
          </a:xfrm>
          <a:prstGeom prst="roundRect">
            <a:avLst>
              <a:gd fmla="val 2893" name="adj"/>
            </a:avLst>
          </a:prstGeom>
          <a:solidFill>
            <a:srgbClr val="162A3A"/>
          </a:solidFill>
          <a:ln cap="flat" cmpd="sng" w="12700">
            <a:solidFill>
              <a:srgbClr val="16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9125712" y="1481328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F51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E96F51"/>
                </a:solidFill>
                <a:latin typeface="Arial"/>
                <a:ea typeface="Arial"/>
                <a:cs typeface="Arial"/>
                <a:sym typeface="Arial"/>
              </a:rPr>
              <a:t>PRÓXIMO PASO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9125712" y="20391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corregir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9125712" y="250545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9125712" y="297180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demostrar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9125712" y="3968496"/>
            <a:ext cx="1481328" cy="283464"/>
          </a:xfrm>
          <a:prstGeom prst="roundRect">
            <a:avLst>
              <a:gd fmla="val 19355" name="adj"/>
            </a:avLst>
          </a:prstGeom>
          <a:solidFill>
            <a:srgbClr val="118A8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9125712" y="3977640"/>
            <a:ext cx="148132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-US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 OCT · S16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749808" y="59893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  ·  Preguntas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658368" y="6473952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8896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728896"/>
                </a:solidFill>
                <a:latin typeface="Arial"/>
                <a:ea typeface="Arial"/>
                <a:cs typeface="Arial"/>
                <a:sym typeface="Arial"/>
              </a:rPr>
              <a:t>Evento Cultural  ·  Capstone 2026  ·  Fase 2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0"/>
          <p:cNvSpPr txBox="1"/>
          <p:nvPr>
            <p:ph idx="4294967295" type="sldNum"/>
          </p:nvPr>
        </p:nvSpPr>
        <p:spPr>
          <a:xfrm>
            <a:off x="11384280" y="6473952"/>
            <a:ext cx="32918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8092A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800">
              <a:solidFill>
                <a:srgbClr val="8092A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2026-09-30T00:33:57Z</dcterms:created>
  <dc:creator>Equipo Evento Cultural</dc:creator>
</cp:coreProperties>
</file>