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6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18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384048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7D3FF"/>
                </a:solidFill>
                <a:latin typeface="Courier New"/>
              </a:rPr>
              <a:t>SYSTEM BLUEPRINT / v2.0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94944"/>
            <a:ext cx="7680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5FBFD"/>
                </a:solidFill>
                <a:latin typeface="Arial"/>
              </a:rPr>
              <a:t>Arquitectura general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1225296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9C4CE"/>
                </a:solidFill>
                <a:latin typeface="Arial"/>
              </a:rPr>
              <a:t>Mapa técnico del flujo implementado y sus puntos de integración.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30384" y="484632"/>
            <a:ext cx="786384" cy="246888"/>
          </a:xfrm>
          <a:prstGeom prst="rect">
            <a:avLst/>
          </a:prstGeom>
          <a:solidFill>
            <a:srgbClr val="061626"/>
          </a:solidFill>
          <a:ln w="10160">
            <a:solidFill>
              <a:srgbClr val="55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30384" y="539496"/>
            <a:ext cx="78638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20" b="1">
                <a:solidFill>
                  <a:srgbClr val="55E6B4"/>
                </a:solidFill>
                <a:latin typeface="Courier New"/>
              </a:rPr>
              <a:t>FASE 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26496" y="484632"/>
            <a:ext cx="859536" cy="246888"/>
          </a:xfrm>
          <a:prstGeom prst="rect">
            <a:avLst/>
          </a:prstGeom>
          <a:solidFill>
            <a:srgbClr val="061626"/>
          </a:solidFill>
          <a:ln w="10160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26496" y="539496"/>
            <a:ext cx="85953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20" b="1">
                <a:solidFill>
                  <a:srgbClr val="27D3FF"/>
                </a:solidFill>
                <a:latin typeface="Courier New"/>
              </a:rPr>
              <a:t>ACTUAL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175564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7D3FF"/>
                </a:solidFill>
                <a:latin typeface="Courier New"/>
              </a:rPr>
              <a:t>01 / ENTRADAS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" y="2103120"/>
            <a:ext cx="2880360" cy="768096"/>
          </a:xfrm>
          <a:prstGeom prst="rect">
            <a:avLst/>
          </a:prstGeom>
          <a:solidFill>
            <a:srgbClr val="0C2639"/>
          </a:solidFill>
          <a:ln w="13970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" y="2258568"/>
            <a:ext cx="438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7A45"/>
                </a:solidFill>
                <a:latin typeface="Courier New"/>
              </a:rPr>
              <a:t>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61872" y="2231136"/>
            <a:ext cx="1901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1">
                <a:solidFill>
                  <a:srgbClr val="F5FBFD"/>
                </a:solidFill>
                <a:latin typeface="Arial"/>
              </a:rPr>
              <a:t>FUENTES PÚBLICAS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1872" y="2514600"/>
            <a:ext cx="19019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A9C4CE"/>
                </a:solidFill>
                <a:latin typeface="Arial"/>
              </a:rPr>
              <a:t>22 agendas · HTTP / REST / Playwright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410712" y="2487168"/>
            <a:ext cx="448056" cy="0"/>
          </a:xfrm>
          <a:prstGeom prst="line">
            <a:avLst/>
          </a:prstGeom>
          <a:ln w="16510">
            <a:solidFill>
              <a:srgbClr val="FF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803904" y="2432303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0352" y="3154680"/>
            <a:ext cx="2880360" cy="768096"/>
          </a:xfrm>
          <a:prstGeom prst="rect">
            <a:avLst/>
          </a:prstGeom>
          <a:solidFill>
            <a:srgbClr val="0C2639"/>
          </a:solidFill>
          <a:ln w="13970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githubaction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337560"/>
            <a:ext cx="384048" cy="3840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261872" y="3282696"/>
            <a:ext cx="1901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1">
                <a:solidFill>
                  <a:srgbClr val="F5FBFD"/>
                </a:solidFill>
                <a:latin typeface="Arial"/>
              </a:rPr>
              <a:t>GITHUB ACTIONS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1872" y="3566160"/>
            <a:ext cx="19019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A9C4CE"/>
                </a:solidFill>
                <a:latin typeface="Arial"/>
              </a:rPr>
              <a:t>cron 23:37 · pruebas · checkpoints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410712" y="3538728"/>
            <a:ext cx="448056" cy="0"/>
          </a:xfrm>
          <a:prstGeom prst="line">
            <a:avLst/>
          </a:prstGeom>
          <a:ln w="16510">
            <a:solidFill>
              <a:srgbClr val="27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803904" y="3483864"/>
            <a:ext cx="109728" cy="109728"/>
          </a:xfrm>
          <a:prstGeom prst="ellipse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0352" y="4206240"/>
            <a:ext cx="2880360" cy="768096"/>
          </a:xfrm>
          <a:prstGeom prst="rect">
            <a:avLst/>
          </a:prstGeom>
          <a:solidFill>
            <a:srgbClr val="0C2639"/>
          </a:solidFill>
          <a:ln w="13970">
            <a:solidFill>
              <a:srgbClr val="55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nvidia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389120"/>
            <a:ext cx="384048" cy="38404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261872" y="4334255"/>
            <a:ext cx="1901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1">
                <a:solidFill>
                  <a:srgbClr val="F5FBFD"/>
                </a:solidFill>
                <a:latin typeface="Arial"/>
              </a:rPr>
              <a:t>NVIDIA NIM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61872" y="4617720"/>
            <a:ext cx="190195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0">
                <a:solidFill>
                  <a:srgbClr val="A9C4CE"/>
                </a:solidFill>
                <a:latin typeface="Arial"/>
              </a:rPr>
              <a:t>OCR selectivo · enriquecimiento · 40 RPM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410712" y="4590288"/>
            <a:ext cx="448056" cy="0"/>
          </a:xfrm>
          <a:prstGeom prst="line">
            <a:avLst/>
          </a:prstGeom>
          <a:ln w="16510">
            <a:solidFill>
              <a:srgbClr val="55E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803904" y="4535424"/>
            <a:ext cx="109728" cy="109728"/>
          </a:xfrm>
          <a:prstGeom prst="ellipse">
            <a:avLst/>
          </a:prstGeom>
          <a:solidFill>
            <a:srgbClr val="55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3858768" y="2487168"/>
            <a:ext cx="0" cy="2478024"/>
          </a:xfrm>
          <a:prstGeom prst="line">
            <a:avLst/>
          </a:prstGeom>
          <a:ln w="17780">
            <a:solidFill>
              <a:srgbClr val="27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94176" y="5120640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27D3FF"/>
                </a:solidFill>
                <a:latin typeface="Courier New"/>
              </a:rPr>
              <a:t>BUS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70832" y="1755648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27D3FF"/>
                </a:solidFill>
                <a:latin typeface="Courier New"/>
              </a:rPr>
              <a:t>02 / PROCESAMIENTO Y ENTREGA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70832" y="2103120"/>
            <a:ext cx="3090672" cy="1508760"/>
          </a:xfrm>
          <a:prstGeom prst="rect">
            <a:avLst/>
          </a:prstGeom>
          <a:solidFill>
            <a:srgbClr val="0C2639"/>
          </a:solidFill>
          <a:ln w="17145">
            <a:solidFill>
              <a:srgbClr val="FF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3712" y="2258568"/>
            <a:ext cx="420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7A45"/>
                </a:solidFill>
                <a:latin typeface="Courier New"/>
              </a:rPr>
              <a:t>A1</a:t>
            </a:r>
          </a:p>
        </p:txBody>
      </p:sp>
      <p:pic>
        <p:nvPicPr>
          <p:cNvPr id="73" name="Picture 72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2249424"/>
            <a:ext cx="329184" cy="329184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553712" y="2606039"/>
            <a:ext cx="2724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FF7A45"/>
                </a:solidFill>
                <a:latin typeface="Courier New"/>
              </a:rPr>
              <a:t>EXTRACT / NORMALIZE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53712" y="2907791"/>
            <a:ext cx="2724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5FBFD"/>
                </a:solidFill>
                <a:latin typeface="Arial"/>
              </a:rPr>
              <a:t>Scraper Python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3712" y="3310128"/>
            <a:ext cx="2724912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BAD0D9"/>
                </a:solidFill>
                <a:latin typeface="Arial"/>
              </a:rPr>
              <a:t>10 familias de conectores · calidad · checkpoints SQLite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91272" y="2103120"/>
            <a:ext cx="3090672" cy="1508760"/>
          </a:xfrm>
          <a:prstGeom prst="rect">
            <a:avLst/>
          </a:prstGeom>
          <a:solidFill>
            <a:srgbClr val="0C2639"/>
          </a:solidFill>
          <a:ln w="17145">
            <a:solidFill>
              <a:srgbClr val="55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74152" y="2258568"/>
            <a:ext cx="420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5E6B4"/>
                </a:solidFill>
                <a:latin typeface="Courier New"/>
              </a:rPr>
              <a:t>A2</a:t>
            </a:r>
          </a:p>
        </p:txBody>
      </p:sp>
      <p:pic>
        <p:nvPicPr>
          <p:cNvPr id="79" name="Picture 78" descr="sup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2249424"/>
            <a:ext cx="329184" cy="329184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074152" y="2606039"/>
            <a:ext cx="2724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55E6B4"/>
                </a:solidFill>
                <a:latin typeface="Courier New"/>
              </a:rPr>
              <a:t>STORE / GOVERN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74152" y="2907791"/>
            <a:ext cx="2724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5FBFD"/>
                </a:solidFill>
                <a:latin typeface="Arial"/>
              </a:rPr>
              <a:t>Supabase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74152" y="3310128"/>
            <a:ext cx="2724912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BAD0D9"/>
                </a:solidFill>
                <a:latin typeface="Arial"/>
              </a:rPr>
              <a:t>PostgreSQL + RLS · catálogo canónico · procedencia privada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70832" y="4069080"/>
            <a:ext cx="3090672" cy="1508760"/>
          </a:xfrm>
          <a:prstGeom prst="rect">
            <a:avLst/>
          </a:prstGeom>
          <a:solidFill>
            <a:srgbClr val="0C2639"/>
          </a:solidFill>
          <a:ln w="1714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53712" y="4224528"/>
            <a:ext cx="420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D166"/>
                </a:solidFill>
                <a:latin typeface="Courier New"/>
              </a:rPr>
              <a:t>A3</a:t>
            </a:r>
          </a:p>
        </p:txBody>
      </p:sp>
      <p:pic>
        <p:nvPicPr>
          <p:cNvPr id="85" name="Picture 84" descr="angul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4215384"/>
            <a:ext cx="329184" cy="329184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4553712" y="4572000"/>
            <a:ext cx="2724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FFD166"/>
                </a:solidFill>
                <a:latin typeface="Courier New"/>
              </a:rPr>
              <a:t>PRESENT / EXPLORE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53712" y="4873752"/>
            <a:ext cx="2724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5FBFD"/>
                </a:solidFill>
                <a:latin typeface="Arial"/>
              </a:rPr>
              <a:t>Angular + Ionic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53712" y="5276088"/>
            <a:ext cx="2724912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BAD0D9"/>
                </a:solidFill>
                <a:latin typeface="Arial"/>
              </a:rPr>
              <a:t>Interfaz web y móvil · actualmente consume datos mock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891272" y="4069080"/>
            <a:ext cx="3090672" cy="1508760"/>
          </a:xfrm>
          <a:prstGeom prst="rect">
            <a:avLst/>
          </a:prstGeom>
          <a:solidFill>
            <a:srgbClr val="0C2639"/>
          </a:solidFill>
          <a:ln w="17145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74152" y="4224528"/>
            <a:ext cx="4206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7D3FF"/>
                </a:solidFill>
                <a:latin typeface="Courier New"/>
              </a:rPr>
              <a:t>A4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74152" y="4572000"/>
            <a:ext cx="272491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>
                <a:solidFill>
                  <a:srgbClr val="27D3FF"/>
                </a:solidFill>
                <a:latin typeface="Courier New"/>
              </a:rPr>
              <a:t>DISCOVER / REDIRECT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74152" y="4873752"/>
            <a:ext cx="2724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5FBFD"/>
                </a:solidFill>
                <a:latin typeface="Arial"/>
              </a:rPr>
              <a:t>Usuarios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74152" y="5276088"/>
            <a:ext cx="2724912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BAD0D9"/>
                </a:solidFill>
                <a:latin typeface="Arial"/>
              </a:rPr>
              <a:t>Descubren, filtran y consultan la fuente oficial del evento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3858768" y="2862072"/>
            <a:ext cx="512064" cy="0"/>
          </a:xfrm>
          <a:prstGeom prst="line">
            <a:avLst/>
          </a:prstGeom>
          <a:ln w="22860">
            <a:solidFill>
              <a:srgbClr val="FF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461504" y="2862072"/>
            <a:ext cx="429768" cy="0"/>
          </a:xfrm>
          <a:prstGeom prst="line">
            <a:avLst/>
          </a:prstGeom>
          <a:ln w="22860">
            <a:solidFill>
              <a:srgbClr val="55E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436608" y="3611880"/>
            <a:ext cx="0" cy="457200"/>
          </a:xfrm>
          <a:prstGeom prst="line">
            <a:avLst/>
          </a:prstGeom>
          <a:ln w="22860">
            <a:solidFill>
              <a:srgbClr val="27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7461504" y="4818888"/>
            <a:ext cx="429768" cy="0"/>
          </a:xfrm>
          <a:prstGeom prst="line">
            <a:avLst/>
          </a:prstGeom>
          <a:ln w="22860">
            <a:solidFill>
              <a:srgbClr val="FFD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3803904" y="2807208"/>
            <a:ext cx="109728" cy="109728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06640" y="2807208"/>
            <a:ext cx="109728" cy="109728"/>
          </a:xfrm>
          <a:prstGeom prst="ellipse">
            <a:avLst/>
          </a:prstGeom>
          <a:solidFill>
            <a:srgbClr val="55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381744" y="3557016"/>
            <a:ext cx="109728" cy="109728"/>
          </a:xfrm>
          <a:prstGeom prst="ellipse">
            <a:avLst/>
          </a:prstGeom>
          <a:solidFill>
            <a:srgbClr val="27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06640" y="4764024"/>
            <a:ext cx="109728" cy="10972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370832" y="5870448"/>
            <a:ext cx="6611112" cy="393192"/>
          </a:xfrm>
          <a:prstGeom prst="rect">
            <a:avLst/>
          </a:prstGeom>
          <a:solidFill>
            <a:srgbClr val="0C2639"/>
          </a:solidFill>
          <a:ln w="10160">
            <a:solidFill>
              <a:srgbClr val="19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608576" y="6016752"/>
            <a:ext cx="82296" cy="82296"/>
          </a:xfrm>
          <a:prstGeom prst="ellipse">
            <a:avLst/>
          </a:prstGeom>
          <a:solidFill>
            <a:srgbClr val="55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54880" y="5980176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F5FBFD"/>
                </a:solidFill>
                <a:latin typeface="Courier New"/>
              </a:rPr>
              <a:t>IMPLEMENTADO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25312" y="5961888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19" b="0">
                <a:solidFill>
                  <a:srgbClr val="B9D1D9"/>
                </a:solidFill>
                <a:latin typeface="Courier New"/>
              </a:rPr>
              <a:t>PENDIENTE: sustituir mock del frontend por el catálogo real de Supabase.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2920" y="6556248"/>
            <a:ext cx="40233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1">
                <a:solidFill>
                  <a:srgbClr val="7493A2"/>
                </a:solidFill>
                <a:latin typeface="Courier New"/>
              </a:rPr>
              <a:t>ARQUITECTURA GENERAL / EVENTO CULTURAL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01400" y="6556248"/>
            <a:ext cx="438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20" b="1">
                <a:solidFill>
                  <a:srgbClr val="7493A2"/>
                </a:solidFill>
                <a:latin typeface="Courier New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B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4445">
            <a:solidFill>
              <a:srgbClr val="D8E8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384048"/>
            <a:ext cx="3383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5B707C"/>
                </a:solidFill>
                <a:latin typeface="Courier New"/>
              </a:rPr>
              <a:t>COMPONENT REGISTER / RESPONSABILIDADES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713232"/>
            <a:ext cx="795527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>
                <a:solidFill>
                  <a:srgbClr val="0A2031"/>
                </a:solidFill>
                <a:latin typeface="Arial"/>
              </a:rPr>
              <a:t>Inventario tecnológico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1225296"/>
            <a:ext cx="8412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0">
                <a:solidFill>
                  <a:srgbClr val="5B707C"/>
                </a:solidFill>
                <a:latin typeface="Arial"/>
              </a:rPr>
              <a:t>Lectura operativa del stack: qué resuelve cada componente y cuál es su estado.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14432" y="512064"/>
            <a:ext cx="1371600" cy="246888"/>
          </a:xfrm>
          <a:prstGeom prst="rect">
            <a:avLst/>
          </a:prstGeom>
          <a:solidFill>
            <a:srgbClr val="F5FBFD"/>
          </a:solidFill>
          <a:ln w="10160">
            <a:solidFill>
              <a:srgbClr val="27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14432" y="566928"/>
            <a:ext cx="137160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20" b="1">
                <a:solidFill>
                  <a:srgbClr val="27D3FF"/>
                </a:solidFill>
                <a:latin typeface="Courier New"/>
              </a:rPr>
              <a:t>8 COMPONENTES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0352" y="2660904"/>
            <a:ext cx="5321808" cy="0"/>
          </a:xfrm>
          <a:prstGeom prst="line">
            <a:avLst/>
          </a:prstGeom>
          <a:ln w="8890">
            <a:solidFill>
              <a:srgbClr val="B9D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0352" y="1874519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5E6B4"/>
                </a:solidFill>
                <a:latin typeface="Courier New"/>
              </a:rPr>
              <a:t>01</a:t>
            </a:r>
          </a:p>
        </p:txBody>
      </p:sp>
      <p:sp>
        <p:nvSpPr>
          <p:cNvPr id="49" name="Oval 48"/>
          <p:cNvSpPr/>
          <p:nvPr/>
        </p:nvSpPr>
        <p:spPr>
          <a:xfrm>
            <a:off x="1097280" y="1837943"/>
            <a:ext cx="475488" cy="475488"/>
          </a:xfrm>
          <a:prstGeom prst="ellipse">
            <a:avLst/>
          </a:prstGeom>
          <a:solidFill>
            <a:srgbClr val="0C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1938528"/>
            <a:ext cx="274320" cy="2743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737360" y="1828800"/>
            <a:ext cx="2788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2031"/>
                </a:solidFill>
                <a:latin typeface="Arial"/>
              </a:rPr>
              <a:t>Python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2167128"/>
            <a:ext cx="3566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707C"/>
                </a:solidFill>
                <a:latin typeface="Arial"/>
              </a:rPr>
              <a:t>Scraping, normalización y pipeline</a:t>
            </a:r>
          </a:p>
        </p:txBody>
      </p:sp>
      <p:sp>
        <p:nvSpPr>
          <p:cNvPr id="53" name="Oval 52"/>
          <p:cNvSpPr/>
          <p:nvPr/>
        </p:nvSpPr>
        <p:spPr>
          <a:xfrm>
            <a:off x="4599432" y="1874519"/>
            <a:ext cx="82296" cy="82296"/>
          </a:xfrm>
          <a:prstGeom prst="ellipse">
            <a:avLst/>
          </a:prstGeom>
          <a:solidFill>
            <a:srgbClr val="55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45736" y="1837943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5B707C"/>
                </a:solidFill>
                <a:latin typeface="Courier New"/>
              </a:rPr>
              <a:t>IMPLEMENTADO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30352" y="3694176"/>
            <a:ext cx="5321808" cy="0"/>
          </a:xfrm>
          <a:prstGeom prst="line">
            <a:avLst/>
          </a:prstGeom>
          <a:ln w="8890">
            <a:solidFill>
              <a:srgbClr val="B9D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30352" y="2907791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5E6B4"/>
                </a:solidFill>
                <a:latin typeface="Courier New"/>
              </a:rPr>
              <a:t>02</a:t>
            </a:r>
          </a:p>
        </p:txBody>
      </p:sp>
      <p:sp>
        <p:nvSpPr>
          <p:cNvPr id="57" name="Oval 56"/>
          <p:cNvSpPr/>
          <p:nvPr/>
        </p:nvSpPr>
        <p:spPr>
          <a:xfrm>
            <a:off x="1097280" y="2871215"/>
            <a:ext cx="475488" cy="475488"/>
          </a:xfrm>
          <a:prstGeom prst="ellipse">
            <a:avLst/>
          </a:prstGeom>
          <a:solidFill>
            <a:srgbClr val="0C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ql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971800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737360" y="2862072"/>
            <a:ext cx="2788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2031"/>
                </a:solidFill>
                <a:latin typeface="Arial"/>
              </a:rPr>
              <a:t>SQLite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37360" y="3200400"/>
            <a:ext cx="3566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707C"/>
                </a:solidFill>
                <a:latin typeface="Arial"/>
              </a:rPr>
              <a:t>Checkpoints, caché y cola OCR</a:t>
            </a:r>
          </a:p>
        </p:txBody>
      </p:sp>
      <p:sp>
        <p:nvSpPr>
          <p:cNvPr id="61" name="Oval 60"/>
          <p:cNvSpPr/>
          <p:nvPr/>
        </p:nvSpPr>
        <p:spPr>
          <a:xfrm>
            <a:off x="4599432" y="2907791"/>
            <a:ext cx="82296" cy="82296"/>
          </a:xfrm>
          <a:prstGeom prst="ellipse">
            <a:avLst/>
          </a:prstGeom>
          <a:solidFill>
            <a:srgbClr val="55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45736" y="2871215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5B707C"/>
                </a:solidFill>
                <a:latin typeface="Courier New"/>
              </a:rPr>
              <a:t>IMPLEMENTADO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30352" y="4727448"/>
            <a:ext cx="5321808" cy="0"/>
          </a:xfrm>
          <a:prstGeom prst="line">
            <a:avLst/>
          </a:prstGeom>
          <a:ln w="8890">
            <a:solidFill>
              <a:srgbClr val="B9D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30352" y="394106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5E6B4"/>
                </a:solidFill>
                <a:latin typeface="Courier New"/>
              </a:rPr>
              <a:t>03</a:t>
            </a:r>
          </a:p>
        </p:txBody>
      </p:sp>
      <p:sp>
        <p:nvSpPr>
          <p:cNvPr id="65" name="Oval 64"/>
          <p:cNvSpPr/>
          <p:nvPr/>
        </p:nvSpPr>
        <p:spPr>
          <a:xfrm>
            <a:off x="1097280" y="3904488"/>
            <a:ext cx="475488" cy="475488"/>
          </a:xfrm>
          <a:prstGeom prst="ellipse">
            <a:avLst/>
          </a:prstGeom>
          <a:solidFill>
            <a:srgbClr val="0C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nvidia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4005072"/>
            <a:ext cx="274320" cy="27432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737360" y="3895344"/>
            <a:ext cx="2788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2031"/>
                </a:solidFill>
                <a:latin typeface="Arial"/>
              </a:rPr>
              <a:t>NVIDIA NIM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37360" y="4233672"/>
            <a:ext cx="3566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707C"/>
                </a:solidFill>
                <a:latin typeface="Arial"/>
              </a:rPr>
              <a:t>OCR y enriquecimiento selectivo · 40 RPM</a:t>
            </a:r>
          </a:p>
        </p:txBody>
      </p:sp>
      <p:sp>
        <p:nvSpPr>
          <p:cNvPr id="69" name="Oval 68"/>
          <p:cNvSpPr/>
          <p:nvPr/>
        </p:nvSpPr>
        <p:spPr>
          <a:xfrm>
            <a:off x="4599432" y="3941064"/>
            <a:ext cx="82296" cy="82296"/>
          </a:xfrm>
          <a:prstGeom prst="ellipse">
            <a:avLst/>
          </a:prstGeom>
          <a:solidFill>
            <a:srgbClr val="55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45736" y="3904488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5B707C"/>
                </a:solidFill>
                <a:latin typeface="Courier New"/>
              </a:rPr>
              <a:t>IMPLEMENTADO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30352" y="5760719"/>
            <a:ext cx="5321808" cy="0"/>
          </a:xfrm>
          <a:prstGeom prst="line">
            <a:avLst/>
          </a:prstGeom>
          <a:ln w="8890">
            <a:solidFill>
              <a:srgbClr val="B9D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30352" y="4974336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5E6B4"/>
                </a:solidFill>
                <a:latin typeface="Courier New"/>
              </a:rPr>
              <a:t>04</a:t>
            </a:r>
          </a:p>
        </p:txBody>
      </p:sp>
      <p:sp>
        <p:nvSpPr>
          <p:cNvPr id="73" name="Oval 72"/>
          <p:cNvSpPr/>
          <p:nvPr/>
        </p:nvSpPr>
        <p:spPr>
          <a:xfrm>
            <a:off x="1097280" y="4937759"/>
            <a:ext cx="475488" cy="475488"/>
          </a:xfrm>
          <a:prstGeom prst="ellipse">
            <a:avLst/>
          </a:prstGeom>
          <a:solidFill>
            <a:srgbClr val="0C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githubaction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5038343"/>
            <a:ext cx="274320" cy="27432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37360" y="4928615"/>
            <a:ext cx="2788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2031"/>
                </a:solidFill>
                <a:latin typeface="Arial"/>
              </a:rPr>
              <a:t>GitHub Actions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37360" y="5266943"/>
            <a:ext cx="3566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707C"/>
                </a:solidFill>
                <a:latin typeface="Arial"/>
              </a:rPr>
              <a:t>Pruebas y ejecución diaria a las 23:37</a:t>
            </a:r>
          </a:p>
        </p:txBody>
      </p:sp>
      <p:sp>
        <p:nvSpPr>
          <p:cNvPr id="77" name="Oval 76"/>
          <p:cNvSpPr/>
          <p:nvPr/>
        </p:nvSpPr>
        <p:spPr>
          <a:xfrm>
            <a:off x="4599432" y="4974336"/>
            <a:ext cx="82296" cy="82296"/>
          </a:xfrm>
          <a:prstGeom prst="ellipse">
            <a:avLst/>
          </a:prstGeom>
          <a:solidFill>
            <a:srgbClr val="55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45736" y="4937759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5B707C"/>
                </a:solidFill>
                <a:latin typeface="Courier New"/>
              </a:rPr>
              <a:t>IMPLEMENTADO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236208" y="2660904"/>
            <a:ext cx="5321808" cy="0"/>
          </a:xfrm>
          <a:prstGeom prst="line">
            <a:avLst/>
          </a:prstGeom>
          <a:ln w="8890">
            <a:solidFill>
              <a:srgbClr val="B9D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236208" y="1874519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5E6B4"/>
                </a:solidFill>
                <a:latin typeface="Courier New"/>
              </a:rPr>
              <a:t>05</a:t>
            </a:r>
          </a:p>
        </p:txBody>
      </p:sp>
      <p:sp>
        <p:nvSpPr>
          <p:cNvPr id="81" name="Oval 80"/>
          <p:cNvSpPr/>
          <p:nvPr/>
        </p:nvSpPr>
        <p:spPr>
          <a:xfrm>
            <a:off x="6803136" y="1837943"/>
            <a:ext cx="475488" cy="475488"/>
          </a:xfrm>
          <a:prstGeom prst="ellipse">
            <a:avLst/>
          </a:prstGeom>
          <a:solidFill>
            <a:srgbClr val="0C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sup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938528"/>
            <a:ext cx="274320" cy="27432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7443216" y="1828800"/>
            <a:ext cx="2788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2031"/>
                </a:solidFill>
                <a:latin typeface="Arial"/>
              </a:rPr>
              <a:t>Supabase + PostgreSQL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43216" y="2167128"/>
            <a:ext cx="3566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707C"/>
                </a:solidFill>
                <a:latin typeface="Arial"/>
              </a:rPr>
              <a:t>Catálogo, staging, RPC y RLS</a:t>
            </a:r>
          </a:p>
        </p:txBody>
      </p:sp>
      <p:sp>
        <p:nvSpPr>
          <p:cNvPr id="85" name="Oval 84"/>
          <p:cNvSpPr/>
          <p:nvPr/>
        </p:nvSpPr>
        <p:spPr>
          <a:xfrm>
            <a:off x="10305288" y="1874519"/>
            <a:ext cx="82296" cy="82296"/>
          </a:xfrm>
          <a:prstGeom prst="ellipse">
            <a:avLst/>
          </a:prstGeom>
          <a:solidFill>
            <a:srgbClr val="55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451592" y="1837943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5B707C"/>
                </a:solidFill>
                <a:latin typeface="Courier New"/>
              </a:rPr>
              <a:t>IMPLEMENTADO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236208" y="3694176"/>
            <a:ext cx="5321808" cy="0"/>
          </a:xfrm>
          <a:prstGeom prst="line">
            <a:avLst/>
          </a:prstGeom>
          <a:ln w="8890">
            <a:solidFill>
              <a:srgbClr val="B9D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236208" y="2907791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55E6B4"/>
                </a:solidFill>
                <a:latin typeface="Courier New"/>
              </a:rPr>
              <a:t>06</a:t>
            </a:r>
          </a:p>
        </p:txBody>
      </p:sp>
      <p:sp>
        <p:nvSpPr>
          <p:cNvPr id="89" name="Oval 88"/>
          <p:cNvSpPr/>
          <p:nvPr/>
        </p:nvSpPr>
        <p:spPr>
          <a:xfrm>
            <a:off x="6803136" y="2871215"/>
            <a:ext cx="475488" cy="475488"/>
          </a:xfrm>
          <a:prstGeom prst="ellipse">
            <a:avLst/>
          </a:prstGeom>
          <a:solidFill>
            <a:srgbClr val="0C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angula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971800"/>
            <a:ext cx="274320" cy="27432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7443216" y="2862072"/>
            <a:ext cx="2788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2031"/>
                </a:solidFill>
                <a:latin typeface="Arial"/>
              </a:rPr>
              <a:t>Angular 22 + Ionic 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43216" y="3200400"/>
            <a:ext cx="3566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707C"/>
                </a:solidFill>
                <a:latin typeface="Arial"/>
              </a:rPr>
              <a:t>Interfaz web/móvil; hoy usa datos mock</a:t>
            </a:r>
          </a:p>
        </p:txBody>
      </p:sp>
      <p:sp>
        <p:nvSpPr>
          <p:cNvPr id="93" name="Oval 92"/>
          <p:cNvSpPr/>
          <p:nvPr/>
        </p:nvSpPr>
        <p:spPr>
          <a:xfrm>
            <a:off x="10305288" y="2907791"/>
            <a:ext cx="82296" cy="82296"/>
          </a:xfrm>
          <a:prstGeom prst="ellipse">
            <a:avLst/>
          </a:prstGeom>
          <a:solidFill>
            <a:srgbClr val="55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451592" y="2871215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5B707C"/>
                </a:solidFill>
                <a:latin typeface="Courier New"/>
              </a:rPr>
              <a:t>IMPLEMENTADO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236208" y="4727448"/>
            <a:ext cx="5321808" cy="0"/>
          </a:xfrm>
          <a:prstGeom prst="line">
            <a:avLst/>
          </a:prstGeom>
          <a:ln w="8890">
            <a:solidFill>
              <a:srgbClr val="B9D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6236208" y="394106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D166"/>
                </a:solidFill>
                <a:latin typeface="Courier New"/>
              </a:rPr>
              <a:t>07</a:t>
            </a:r>
          </a:p>
        </p:txBody>
      </p:sp>
      <p:sp>
        <p:nvSpPr>
          <p:cNvPr id="97" name="Oval 96"/>
          <p:cNvSpPr/>
          <p:nvPr/>
        </p:nvSpPr>
        <p:spPr>
          <a:xfrm>
            <a:off x="6803136" y="3904488"/>
            <a:ext cx="475488" cy="475488"/>
          </a:xfrm>
          <a:prstGeom prst="ellipse">
            <a:avLst/>
          </a:prstGeom>
          <a:solidFill>
            <a:srgbClr val="0C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03136" y="4059936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5FBFD"/>
                </a:solidFill>
                <a:latin typeface="Courier New"/>
              </a:rPr>
              <a:t>DEP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43216" y="3895344"/>
            <a:ext cx="2788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2031"/>
                </a:solidFill>
                <a:latin typeface="Arial"/>
              </a:rPr>
              <a:t>Vercel + Capacitor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43216" y="4233672"/>
            <a:ext cx="3566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707C"/>
                </a:solidFill>
                <a:latin typeface="Arial"/>
              </a:rPr>
              <a:t>Despliegue web y empaquetado móvil</a:t>
            </a:r>
          </a:p>
        </p:txBody>
      </p:sp>
      <p:sp>
        <p:nvSpPr>
          <p:cNvPr id="101" name="Oval 100"/>
          <p:cNvSpPr/>
          <p:nvPr/>
        </p:nvSpPr>
        <p:spPr>
          <a:xfrm>
            <a:off x="10305288" y="3941064"/>
            <a:ext cx="82296" cy="82296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451592" y="3904488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5B707C"/>
                </a:solidFill>
                <a:latin typeface="Courier New"/>
              </a:rPr>
              <a:t>PREVISTO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236208" y="5760719"/>
            <a:ext cx="5321808" cy="0"/>
          </a:xfrm>
          <a:prstGeom prst="line">
            <a:avLst/>
          </a:prstGeom>
          <a:ln w="8890">
            <a:solidFill>
              <a:srgbClr val="B9D1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6236208" y="4974336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7A45"/>
                </a:solidFill>
                <a:latin typeface="Courier New"/>
              </a:rPr>
              <a:t>08</a:t>
            </a:r>
          </a:p>
        </p:txBody>
      </p:sp>
      <p:sp>
        <p:nvSpPr>
          <p:cNvPr id="105" name="Oval 104"/>
          <p:cNvSpPr/>
          <p:nvPr/>
        </p:nvSpPr>
        <p:spPr>
          <a:xfrm>
            <a:off x="6803136" y="4937759"/>
            <a:ext cx="475488" cy="475488"/>
          </a:xfrm>
          <a:prstGeom prst="ellipse">
            <a:avLst/>
          </a:prstGeom>
          <a:solidFill>
            <a:srgbClr val="0C2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03136" y="5093207"/>
            <a:ext cx="47548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5FBFD"/>
                </a:solidFill>
                <a:latin typeface="Courier New"/>
              </a:rPr>
              <a:t>&lt;&gt;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43216" y="4928615"/>
            <a:ext cx="27889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2031"/>
                </a:solidFill>
                <a:latin typeface="Arial"/>
              </a:rPr>
              <a:t>Integración frontend–BD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43216" y="5266943"/>
            <a:ext cx="35661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707C"/>
                </a:solidFill>
                <a:latin typeface="Arial"/>
              </a:rPr>
              <a:t>Sustituir datos mock por catálogo real</a:t>
            </a:r>
          </a:p>
        </p:txBody>
      </p:sp>
      <p:sp>
        <p:nvSpPr>
          <p:cNvPr id="109" name="Oval 108"/>
          <p:cNvSpPr/>
          <p:nvPr/>
        </p:nvSpPr>
        <p:spPr>
          <a:xfrm>
            <a:off x="10305288" y="4974336"/>
            <a:ext cx="82296" cy="82296"/>
          </a:xfrm>
          <a:prstGeom prst="ellipse">
            <a:avLst/>
          </a:prstGeom>
          <a:solidFill>
            <a:srgbClr val="FF7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451592" y="4937759"/>
            <a:ext cx="11430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1">
                <a:solidFill>
                  <a:srgbClr val="5B707C"/>
                </a:solidFill>
                <a:latin typeface="Courier New"/>
              </a:rPr>
              <a:t>PENDIENTE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30352" y="6053328"/>
            <a:ext cx="11119104" cy="301752"/>
          </a:xfrm>
          <a:prstGeom prst="rect">
            <a:avLst/>
          </a:prstGeom>
          <a:solidFill>
            <a:srgbClr val="E9F4F7"/>
          </a:solidFill>
          <a:ln w="7620">
            <a:solidFill>
              <a:srgbClr val="B9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22376" y="6135624"/>
            <a:ext cx="107442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90" b="1">
                <a:solidFill>
                  <a:srgbClr val="0A2031"/>
                </a:solidFill>
                <a:latin typeface="Courier New"/>
              </a:rPr>
              <a:t>PRINCIPIO DE DISEÑO  /  extracción, persistencia e interfaz permanecen desacopladas para facilitar mantenimiento y escalado.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2920" y="6556248"/>
            <a:ext cx="40233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20" b="1">
                <a:solidFill>
                  <a:srgbClr val="5B707C"/>
                </a:solidFill>
                <a:latin typeface="Courier New"/>
              </a:rPr>
              <a:t>ARQUITECTURA GENERAL / EVENTO CULTURAL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201400" y="6556248"/>
            <a:ext cx="438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720" b="1">
                <a:solidFill>
                  <a:srgbClr val="5B707C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