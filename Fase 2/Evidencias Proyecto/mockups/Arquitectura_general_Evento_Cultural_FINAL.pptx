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Arquitectura verificada en el repositorio. Las marcas identifican tecnologías utilizadas; no implican asociación 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de marca: Python Software Foundation, NVIDIA, GitHub, SQLite, PostgreSQL, Supabase, Ionic y Angular Press Kit. Uso únicamente identificativo.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CULTURAL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general del proyecto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real desde las fuentes hasta el catálogo y el frontend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26880" y="438912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0" y="457200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0561320" y="438912"/>
            <a:ext cx="676656" cy="219456"/>
          </a:xfrm>
          <a:prstGeom prst="roundRect">
            <a:avLst>
              <a:gd name="adj" fmla="val 41667"/>
            </a:avLst>
          </a:prstGeom>
          <a:solidFill>
            <a:srgbClr val="F8B55B"/>
          </a:solidFill>
          <a:ln w="12700">
            <a:solidFill>
              <a:srgbClr val="F8B5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61320" y="457200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FUTURO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101D3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7512" y="1719072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181051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" y="2468880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públicas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" y="2834640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" y="2852928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667512" y="330555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" y="3218688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Agendas culturales chilenas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7512" y="362559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" y="3538728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por fuente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7512" y="394563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" y="3858768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y procedencia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651760" y="1508760"/>
            <a:ext cx="2057400" cy="2788920"/>
          </a:xfrm>
          <a:prstGeom prst="roundRect">
            <a:avLst>
              <a:gd name="adj" fmla="val 3556"/>
            </a:avLst>
          </a:prstGeom>
          <a:solidFill>
            <a:srgbClr val="101D30"/>
          </a:solidFill>
          <a:ln w="12700">
            <a:solidFill>
              <a:srgbClr val="5AA9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16352" y="1719072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2" y="1810512"/>
            <a:ext cx="402336" cy="40233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2816352" y="2468880"/>
            <a:ext cx="172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2816352" y="2834640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816352" y="2852928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2816352" y="3305556"/>
            <a:ext cx="64008" cy="64008"/>
          </a:xfrm>
          <a:prstGeom prst="ellipse">
            <a:avLst/>
          </a:prstGeom>
          <a:solidFill>
            <a:srgbClr val="5AA9FF"/>
          </a:solidFill>
          <a:ln w="12700">
            <a:solidFill>
              <a:srgbClr val="5AA9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80944" y="3218688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Strategy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816352" y="3625596"/>
            <a:ext cx="64008" cy="64008"/>
          </a:xfrm>
          <a:prstGeom prst="ellipse">
            <a:avLst/>
          </a:prstGeom>
          <a:solidFill>
            <a:srgbClr val="5AA9FF"/>
          </a:solidFill>
          <a:ln w="12700">
            <a:solidFill>
              <a:srgbClr val="5AA9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980944" y="3538728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Saneamiento y ubicación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816352" y="3945636"/>
            <a:ext cx="64008" cy="64008"/>
          </a:xfrm>
          <a:prstGeom prst="ellipse">
            <a:avLst/>
          </a:prstGeom>
          <a:solidFill>
            <a:srgbClr val="5AA9FF"/>
          </a:solidFill>
          <a:ln w="12700">
            <a:solidFill>
              <a:srgbClr val="5AA9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980944" y="3858768"/>
            <a:ext cx="1563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Deduplicación pre-IA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983480" y="1508760"/>
            <a:ext cx="1783080" cy="2788920"/>
          </a:xfrm>
          <a:prstGeom prst="roundRect">
            <a:avLst>
              <a:gd name="adj" fmla="val 4103"/>
            </a:avLst>
          </a:prstGeom>
          <a:solidFill>
            <a:srgbClr val="101D3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148072" y="1719072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1810512"/>
            <a:ext cx="402336" cy="402336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148072" y="2468880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local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148072" y="2834640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148072" y="2852928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5148072" y="330555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5312664" y="3218688"/>
            <a:ext cx="1289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5148072" y="362559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5312664" y="3538728"/>
            <a:ext cx="1289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Caché y cola OCR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148072" y="394563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312664" y="3858768"/>
            <a:ext cx="1289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local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7040880" y="1508760"/>
            <a:ext cx="2011680" cy="2788920"/>
          </a:xfrm>
          <a:prstGeom prst="roundRect">
            <a:avLst>
              <a:gd name="adj" fmla="val 3636"/>
            </a:avLst>
          </a:prstGeom>
          <a:solidFill>
            <a:srgbClr val="101D30"/>
          </a:solidFill>
          <a:ln w="12700">
            <a:solidFill>
              <a:srgbClr val="3ECF8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7205472" y="1719072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1810512"/>
            <a:ext cx="402336" cy="402336"/>
          </a:xfrm>
          <a:prstGeom prst="rect">
            <a:avLst/>
          </a:prstGeom>
        </p:spPr>
      </p:pic>
      <p:sp>
        <p:nvSpPr>
          <p:cNvPr id="48" name="Text 43"/>
          <p:cNvSpPr/>
          <p:nvPr/>
        </p:nvSpPr>
        <p:spPr>
          <a:xfrm>
            <a:off x="7205472" y="246888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7205472" y="2834640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7205472" y="2852928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51" name="Shape 46"/>
          <p:cNvSpPr/>
          <p:nvPr/>
        </p:nvSpPr>
        <p:spPr>
          <a:xfrm>
            <a:off x="7205472" y="3305556"/>
            <a:ext cx="64008" cy="64008"/>
          </a:xfrm>
          <a:prstGeom prst="ellipse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370064" y="321868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PostgreSQL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7205472" y="3625596"/>
            <a:ext cx="64008" cy="64008"/>
          </a:xfrm>
          <a:prstGeom prst="ellipse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7370064" y="35387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+ RPC + RLS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7205472" y="3945636"/>
            <a:ext cx="64008" cy="64008"/>
          </a:xfrm>
          <a:prstGeom prst="ellipse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7370064" y="385876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y limpieza</a:t>
            </a:r>
            <a:endParaRPr lang="en-US" sz="1000" dirty="0"/>
          </a:p>
        </p:txBody>
      </p:sp>
      <p:sp>
        <p:nvSpPr>
          <p:cNvPr id="57" name="Shape 52"/>
          <p:cNvSpPr/>
          <p:nvPr/>
        </p:nvSpPr>
        <p:spPr>
          <a:xfrm>
            <a:off x="9326880" y="1508760"/>
            <a:ext cx="2359152" cy="2788920"/>
          </a:xfrm>
          <a:prstGeom prst="roundRect">
            <a:avLst>
              <a:gd name="adj" fmla="val 3101"/>
            </a:avLst>
          </a:prstGeom>
          <a:solidFill>
            <a:srgbClr val="101D3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58" name="Shape 53"/>
          <p:cNvSpPr/>
          <p:nvPr/>
        </p:nvSpPr>
        <p:spPr>
          <a:xfrm>
            <a:off x="9491472" y="1719072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1810512"/>
            <a:ext cx="402336" cy="402336"/>
          </a:xfrm>
          <a:prstGeom prst="rect">
            <a:avLst/>
          </a:prstGeom>
        </p:spPr>
      </p:pic>
      <p:sp>
        <p:nvSpPr>
          <p:cNvPr id="60" name="Text 54"/>
          <p:cNvSpPr/>
          <p:nvPr/>
        </p:nvSpPr>
        <p:spPr>
          <a:xfrm>
            <a:off x="9491472" y="2468880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61" name="Shape 55"/>
          <p:cNvSpPr/>
          <p:nvPr/>
        </p:nvSpPr>
        <p:spPr>
          <a:xfrm>
            <a:off x="9491472" y="2834640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62" name="Text 56"/>
          <p:cNvSpPr/>
          <p:nvPr/>
        </p:nvSpPr>
        <p:spPr>
          <a:xfrm>
            <a:off x="9491472" y="2852928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63" name="Shape 57"/>
          <p:cNvSpPr/>
          <p:nvPr/>
        </p:nvSpPr>
        <p:spPr>
          <a:xfrm>
            <a:off x="9491472" y="330555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4" name="Text 58"/>
          <p:cNvSpPr/>
          <p:nvPr/>
        </p:nvSpPr>
        <p:spPr>
          <a:xfrm>
            <a:off x="9656064" y="3218688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Ionic + Angular</a:t>
            </a:r>
            <a:endParaRPr lang="en-US" sz="1000" dirty="0"/>
          </a:p>
        </p:txBody>
      </p:sp>
      <p:sp>
        <p:nvSpPr>
          <p:cNvPr id="65" name="Shape 59"/>
          <p:cNvSpPr/>
          <p:nvPr/>
        </p:nvSpPr>
        <p:spPr>
          <a:xfrm>
            <a:off x="9491472" y="362559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6" name="Text 60"/>
          <p:cNvSpPr/>
          <p:nvPr/>
        </p:nvSpPr>
        <p:spPr>
          <a:xfrm>
            <a:off x="9656064" y="3538728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responsive</a:t>
            </a:r>
            <a:endParaRPr lang="en-US" sz="1000" dirty="0"/>
          </a:p>
        </p:txBody>
      </p:sp>
      <p:sp>
        <p:nvSpPr>
          <p:cNvPr id="67" name="Shape 61"/>
          <p:cNvSpPr/>
          <p:nvPr/>
        </p:nvSpPr>
        <p:spPr>
          <a:xfrm>
            <a:off x="9491472" y="3945636"/>
            <a:ext cx="64008" cy="6400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9656064" y="3858768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mock hoy</a:t>
            </a:r>
            <a:endParaRPr lang="en-US" sz="1000" dirty="0"/>
          </a:p>
        </p:txBody>
      </p:sp>
      <p:sp>
        <p:nvSpPr>
          <p:cNvPr id="69" name="Shape 63"/>
          <p:cNvSpPr/>
          <p:nvPr/>
        </p:nvSpPr>
        <p:spPr>
          <a:xfrm>
            <a:off x="2386584" y="2907792"/>
            <a:ext cx="219456" cy="0"/>
          </a:xfrm>
          <a:prstGeom prst="line">
            <a:avLst/>
          </a:prstGeom>
          <a:noFill/>
          <a:ln w="254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70" name="Shape 64"/>
          <p:cNvSpPr/>
          <p:nvPr/>
        </p:nvSpPr>
        <p:spPr>
          <a:xfrm>
            <a:off x="4727448" y="2907792"/>
            <a:ext cx="219456" cy="0"/>
          </a:xfrm>
          <a:prstGeom prst="line">
            <a:avLst/>
          </a:prstGeom>
          <a:noFill/>
          <a:ln w="25400">
            <a:solidFill>
              <a:srgbClr val="5AA9FF"/>
            </a:solidFill>
            <a:prstDash val="solid"/>
            <a:tailEnd type="triangle"/>
          </a:ln>
        </p:spPr>
      </p:sp>
      <p:sp>
        <p:nvSpPr>
          <p:cNvPr id="71" name="Shape 65"/>
          <p:cNvSpPr/>
          <p:nvPr/>
        </p:nvSpPr>
        <p:spPr>
          <a:xfrm>
            <a:off x="6784848" y="2907792"/>
            <a:ext cx="219456" cy="0"/>
          </a:xfrm>
          <a:prstGeom prst="line">
            <a:avLst/>
          </a:prstGeom>
          <a:noFill/>
          <a:ln w="254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72" name="Shape 66"/>
          <p:cNvSpPr/>
          <p:nvPr/>
        </p:nvSpPr>
        <p:spPr>
          <a:xfrm>
            <a:off x="9070848" y="2907792"/>
            <a:ext cx="219456" cy="0"/>
          </a:xfrm>
          <a:prstGeom prst="line">
            <a:avLst/>
          </a:prstGeom>
          <a:noFill/>
          <a:ln w="25400">
            <a:solidFill>
              <a:srgbClr val="3ECF8E"/>
            </a:solidFill>
            <a:prstDash val="solid"/>
            <a:tailEnd type="triangle"/>
          </a:ln>
        </p:spPr>
      </p:sp>
      <p:sp>
        <p:nvSpPr>
          <p:cNvPr id="73" name="Shape 67"/>
          <p:cNvSpPr/>
          <p:nvPr/>
        </p:nvSpPr>
        <p:spPr>
          <a:xfrm>
            <a:off x="502920" y="4736592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15243A"/>
          </a:solidFill>
          <a:ln w="12700">
            <a:solidFill>
              <a:srgbClr val="F8B55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74" name="Shape 68"/>
          <p:cNvSpPr/>
          <p:nvPr/>
        </p:nvSpPr>
        <p:spPr>
          <a:xfrm>
            <a:off x="713232" y="498348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074920"/>
            <a:ext cx="384048" cy="384048"/>
          </a:xfrm>
          <a:prstGeom prst="rect">
            <a:avLst/>
          </a:prstGeom>
        </p:spPr>
      </p:pic>
      <p:sp>
        <p:nvSpPr>
          <p:cNvPr id="76" name="Text 69"/>
          <p:cNvSpPr/>
          <p:nvPr/>
        </p:nvSpPr>
        <p:spPr>
          <a:xfrm>
            <a:off x="1444752" y="49286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NIM</a:t>
            </a:r>
            <a:endParaRPr lang="en-US" sz="1500" dirty="0"/>
          </a:p>
        </p:txBody>
      </p:sp>
      <p:sp>
        <p:nvSpPr>
          <p:cNvPr id="77" name="Text 70"/>
          <p:cNvSpPr/>
          <p:nvPr/>
        </p:nvSpPr>
        <p:spPr>
          <a:xfrm>
            <a:off x="1444752" y="52486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OCR, ubicación y redacción selectiva · 40 RPM</a:t>
            </a:r>
            <a:endParaRPr lang="en-US" sz="1000" dirty="0"/>
          </a:p>
        </p:txBody>
      </p:sp>
      <p:sp>
        <p:nvSpPr>
          <p:cNvPr id="78" name="Shape 71"/>
          <p:cNvSpPr/>
          <p:nvPr/>
        </p:nvSpPr>
        <p:spPr>
          <a:xfrm>
            <a:off x="4023360" y="4736592"/>
            <a:ext cx="2971800" cy="1143000"/>
          </a:xfrm>
          <a:prstGeom prst="roundRect">
            <a:avLst>
              <a:gd name="adj" fmla="val 6400"/>
            </a:avLst>
          </a:prstGeom>
          <a:solidFill>
            <a:srgbClr val="15243A"/>
          </a:solidFill>
          <a:ln w="12700">
            <a:solidFill>
              <a:srgbClr val="5AA9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79" name="Shape 72"/>
          <p:cNvSpPr/>
          <p:nvPr/>
        </p:nvSpPr>
        <p:spPr>
          <a:xfrm>
            <a:off x="4233672" y="498348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5112" y="5074920"/>
            <a:ext cx="384048" cy="384048"/>
          </a:xfrm>
          <a:prstGeom prst="rect">
            <a:avLst/>
          </a:prstGeom>
        </p:spPr>
      </p:pic>
      <p:sp>
        <p:nvSpPr>
          <p:cNvPr id="81" name="Text 73"/>
          <p:cNvSpPr/>
          <p:nvPr/>
        </p:nvSpPr>
        <p:spPr>
          <a:xfrm>
            <a:off x="4965192" y="492861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82" name="Text 74"/>
          <p:cNvSpPr/>
          <p:nvPr/>
        </p:nvSpPr>
        <p:spPr>
          <a:xfrm>
            <a:off x="4965192" y="5248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versionado · ejecución manual · cron futuro</a:t>
            </a:r>
            <a:endParaRPr lang="en-US" sz="1000" dirty="0"/>
          </a:p>
        </p:txBody>
      </p:sp>
      <p:sp>
        <p:nvSpPr>
          <p:cNvPr id="83" name="Shape 75"/>
          <p:cNvSpPr/>
          <p:nvPr/>
        </p:nvSpPr>
        <p:spPr>
          <a:xfrm>
            <a:off x="7269480" y="4736592"/>
            <a:ext cx="4416552" cy="1143000"/>
          </a:xfrm>
          <a:prstGeom prst="roundRect">
            <a:avLst>
              <a:gd name="adj" fmla="val 6400"/>
            </a:avLst>
          </a:prstGeom>
          <a:solidFill>
            <a:srgbClr val="15243A"/>
          </a:solidFill>
          <a:ln w="12700">
            <a:solidFill>
              <a:srgbClr val="F8B55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84" name="Text 76"/>
          <p:cNvSpPr/>
          <p:nvPr/>
        </p:nvSpPr>
        <p:spPr>
          <a:xfrm>
            <a:off x="7498080" y="49194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prevista</a:t>
            </a:r>
            <a:endParaRPr lang="en-US" sz="1500" dirty="0"/>
          </a:p>
        </p:txBody>
      </p:sp>
      <p:sp>
        <p:nvSpPr>
          <p:cNvPr id="85" name="Shape 77"/>
          <p:cNvSpPr/>
          <p:nvPr/>
        </p:nvSpPr>
        <p:spPr>
          <a:xfrm>
            <a:off x="10771632" y="4919472"/>
            <a:ext cx="676656" cy="219456"/>
          </a:xfrm>
          <a:prstGeom prst="roundRect">
            <a:avLst>
              <a:gd name="adj" fmla="val 41667"/>
            </a:avLst>
          </a:prstGeom>
          <a:solidFill>
            <a:srgbClr val="F8B55B"/>
          </a:solidFill>
          <a:ln w="12700">
            <a:solidFill>
              <a:srgbClr val="F8B55B"/>
            </a:solidFill>
            <a:prstDash val="solid"/>
          </a:ln>
        </p:spPr>
      </p:sp>
      <p:sp>
        <p:nvSpPr>
          <p:cNvPr id="86" name="Text 78"/>
          <p:cNvSpPr/>
          <p:nvPr/>
        </p:nvSpPr>
        <p:spPr>
          <a:xfrm>
            <a:off x="10771632" y="4937760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FUTURO</a:t>
            </a:r>
            <a:endParaRPr lang="en-US" sz="700" dirty="0"/>
          </a:p>
        </p:txBody>
      </p:sp>
      <p:sp>
        <p:nvSpPr>
          <p:cNvPr id="87" name="Text 79"/>
          <p:cNvSpPr/>
          <p:nvPr/>
        </p:nvSpPr>
        <p:spPr>
          <a:xfrm>
            <a:off x="7498080" y="527608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conectado a Supabase · Auth/perfiles · mapa real · ejecución periódica · Capacitor si se decide</a:t>
            </a:r>
            <a:endParaRPr lang="en-US" sz="1000" dirty="0"/>
          </a:p>
        </p:txBody>
      </p:sp>
      <p:sp>
        <p:nvSpPr>
          <p:cNvPr id="88" name="Text 80"/>
          <p:cNvSpPr/>
          <p:nvPr/>
        </p:nvSpPr>
        <p:spPr>
          <a:xfrm>
            <a:off x="530352" y="63093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3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conserva estado operativo; Supabase almacena el catálogo público.</a:t>
            </a:r>
            <a:endParaRPr lang="en-US" sz="900" dirty="0"/>
          </a:p>
        </p:txBody>
      </p:sp>
      <p:sp>
        <p:nvSpPr>
          <p:cNvPr id="89" name="Text 81"/>
          <p:cNvSpPr/>
          <p:nvPr/>
        </p:nvSpPr>
        <p:spPr>
          <a:xfrm>
            <a:off x="7772400" y="630936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38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usa MySQL, Firebase, Node/Express ni pagos.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TECNOLÓGICO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Tecnologías reales y su responsabilidad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tecnologías futuras se muestran separadas para no confundirlas con componentes activos.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2542032" cy="1627632"/>
          </a:xfrm>
          <a:prstGeom prst="roundRect">
            <a:avLst>
              <a:gd name="adj" fmla="val 4494"/>
            </a:avLst>
          </a:prstGeom>
          <a:solidFill>
            <a:srgbClr val="101D30"/>
          </a:solidFill>
          <a:ln w="12700">
            <a:solidFill>
              <a:srgbClr val="3776A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0992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847088"/>
            <a:ext cx="530352" cy="530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73352" y="175564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73352" y="219456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Scraping, normalización y pipeline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13232" y="2715768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2734056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3364992" y="1481328"/>
            <a:ext cx="2542032" cy="1627632"/>
          </a:xfrm>
          <a:prstGeom prst="roundRect">
            <a:avLst>
              <a:gd name="adj" fmla="val 4494"/>
            </a:avLst>
          </a:prstGeom>
          <a:solidFill>
            <a:srgbClr val="101D30"/>
          </a:solidFill>
          <a:ln w="12700">
            <a:solidFill>
              <a:srgbClr val="53A5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75304" y="170992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1847088"/>
            <a:ext cx="530352" cy="5303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35424" y="175564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35424" y="219456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Checkpoints, caché y cola OCR local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575304" y="2715768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575304" y="2734056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6227064" y="1481328"/>
            <a:ext cx="2542032" cy="1627632"/>
          </a:xfrm>
          <a:prstGeom prst="roundRect">
            <a:avLst>
              <a:gd name="adj" fmla="val 4494"/>
            </a:avLst>
          </a:prstGeom>
          <a:solidFill>
            <a:srgbClr val="101D30"/>
          </a:solidFill>
          <a:ln w="12700">
            <a:solidFill>
              <a:srgbClr val="76B90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37376" y="170992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1847088"/>
            <a:ext cx="530352" cy="5303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397496" y="175564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NIM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397496" y="219456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y enriquecimiento editorial selectivo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437376" y="2715768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37376" y="2734056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26" name="Shape 21"/>
          <p:cNvSpPr/>
          <p:nvPr/>
        </p:nvSpPr>
        <p:spPr>
          <a:xfrm>
            <a:off x="9089136" y="1481328"/>
            <a:ext cx="2542032" cy="1627632"/>
          </a:xfrm>
          <a:prstGeom prst="roundRect">
            <a:avLst>
              <a:gd name="adj" fmla="val 4494"/>
            </a:avLst>
          </a:prstGeom>
          <a:solidFill>
            <a:srgbClr val="101D30"/>
          </a:solidFill>
          <a:ln w="12700">
            <a:solidFill>
              <a:srgbClr val="2088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299448" y="170992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1847088"/>
            <a:ext cx="530352" cy="53035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0259568" y="175564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10259568" y="219456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Automatización versionada del scraper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9299448" y="2715768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9299448" y="2734056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33" name="Shape 27"/>
          <p:cNvSpPr/>
          <p:nvPr/>
        </p:nvSpPr>
        <p:spPr>
          <a:xfrm>
            <a:off x="502920" y="3447288"/>
            <a:ext cx="2542032" cy="1627632"/>
          </a:xfrm>
          <a:prstGeom prst="roundRect">
            <a:avLst>
              <a:gd name="adj" fmla="val 4494"/>
            </a:avLst>
          </a:prstGeom>
          <a:solidFill>
            <a:srgbClr val="101D30"/>
          </a:solidFill>
          <a:ln w="12700">
            <a:solidFill>
              <a:srgbClr val="3ECF8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713232" y="36758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3813048"/>
            <a:ext cx="530352" cy="53035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673352" y="3721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1673352" y="41605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API, RLS y catálogo central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713232" y="4681728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13232" y="4700016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40" name="Shape 33"/>
          <p:cNvSpPr/>
          <p:nvPr/>
        </p:nvSpPr>
        <p:spPr>
          <a:xfrm>
            <a:off x="3364992" y="3447288"/>
            <a:ext cx="2542032" cy="1627632"/>
          </a:xfrm>
          <a:prstGeom prst="roundRect">
            <a:avLst>
              <a:gd name="adj" fmla="val 4494"/>
            </a:avLst>
          </a:prstGeom>
          <a:solidFill>
            <a:srgbClr val="101D30"/>
          </a:solidFill>
          <a:ln w="12700">
            <a:solidFill>
              <a:srgbClr val="4169E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3575304" y="36758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2464" y="3813048"/>
            <a:ext cx="530352" cy="530352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4535424" y="3721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44" name="Text 36"/>
          <p:cNvSpPr/>
          <p:nvPr/>
        </p:nvSpPr>
        <p:spPr>
          <a:xfrm>
            <a:off x="4535424" y="41605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Persistencia relacional de producción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3575304" y="4681728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3575304" y="4700016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47" name="Shape 39"/>
          <p:cNvSpPr/>
          <p:nvPr/>
        </p:nvSpPr>
        <p:spPr>
          <a:xfrm>
            <a:off x="6227064" y="3447288"/>
            <a:ext cx="2542032" cy="1627632"/>
          </a:xfrm>
          <a:prstGeom prst="roundRect">
            <a:avLst>
              <a:gd name="adj" fmla="val 4494"/>
            </a:avLst>
          </a:prstGeom>
          <a:solidFill>
            <a:srgbClr val="101D30"/>
          </a:solidFill>
          <a:ln w="12700">
            <a:solidFill>
              <a:srgbClr val="3880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437376" y="36758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3813048"/>
            <a:ext cx="530352" cy="530352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7397496" y="3721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Ionic</a:t>
            </a:r>
            <a:endParaRPr lang="en-US" sz="1500" dirty="0"/>
          </a:p>
        </p:txBody>
      </p:sp>
      <p:sp>
        <p:nvSpPr>
          <p:cNvPr id="51" name="Text 42"/>
          <p:cNvSpPr/>
          <p:nvPr/>
        </p:nvSpPr>
        <p:spPr>
          <a:xfrm>
            <a:off x="7397496" y="41605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y experiencia móvil/web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6437376" y="4681728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6437376" y="4700016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54" name="Shape 45"/>
          <p:cNvSpPr/>
          <p:nvPr/>
        </p:nvSpPr>
        <p:spPr>
          <a:xfrm>
            <a:off x="9089136" y="3447288"/>
            <a:ext cx="2542032" cy="1627632"/>
          </a:xfrm>
          <a:prstGeom prst="roundRect">
            <a:avLst>
              <a:gd name="adj" fmla="val 4494"/>
            </a:avLst>
          </a:prstGeom>
          <a:solidFill>
            <a:srgbClr val="101D30"/>
          </a:solidFill>
          <a:ln w="12700">
            <a:solidFill>
              <a:srgbClr val="DD003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55" name="Shape 46"/>
          <p:cNvSpPr/>
          <p:nvPr/>
        </p:nvSpPr>
        <p:spPr>
          <a:xfrm>
            <a:off x="9299448" y="3675888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6608" y="3813048"/>
            <a:ext cx="530352" cy="530352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10259568" y="3721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1500" dirty="0"/>
          </a:p>
        </p:txBody>
      </p:sp>
      <p:sp>
        <p:nvSpPr>
          <p:cNvPr id="58" name="Text 48"/>
          <p:cNvSpPr/>
          <p:nvPr/>
        </p:nvSpPr>
        <p:spPr>
          <a:xfrm>
            <a:off x="10259568" y="41605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frontend y navegación</a:t>
            </a:r>
            <a:endParaRPr lang="en-US" sz="950" dirty="0"/>
          </a:p>
        </p:txBody>
      </p:sp>
      <p:sp>
        <p:nvSpPr>
          <p:cNvPr id="59" name="Shape 49"/>
          <p:cNvSpPr/>
          <p:nvPr/>
        </p:nvSpPr>
        <p:spPr>
          <a:xfrm>
            <a:off x="9299448" y="4681728"/>
            <a:ext cx="941832" cy="219456"/>
          </a:xfrm>
          <a:prstGeom prst="roundRect">
            <a:avLst>
              <a:gd name="adj" fmla="val 41667"/>
            </a:avLst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60" name="Text 50"/>
          <p:cNvSpPr/>
          <p:nvPr/>
        </p:nvSpPr>
        <p:spPr>
          <a:xfrm>
            <a:off x="9299448" y="4700016"/>
            <a:ext cx="9418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1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700" dirty="0"/>
          </a:p>
        </p:txBody>
      </p:sp>
      <p:sp>
        <p:nvSpPr>
          <p:cNvPr id="61" name="Shape 51"/>
          <p:cNvSpPr/>
          <p:nvPr/>
        </p:nvSpPr>
        <p:spPr>
          <a:xfrm>
            <a:off x="502920" y="5504688"/>
            <a:ext cx="11173968" cy="658368"/>
          </a:xfrm>
          <a:prstGeom prst="roundRect">
            <a:avLst>
              <a:gd name="adj" fmla="val 11111"/>
            </a:avLst>
          </a:prstGeom>
          <a:solidFill>
            <a:srgbClr val="0D192A"/>
          </a:solidFill>
          <a:ln w="12700">
            <a:solidFill>
              <a:srgbClr val="2C425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20000"/>
              </a:srgbClr>
            </a:outerShdw>
          </a:effectLst>
        </p:spPr>
      </p:sp>
      <p:sp>
        <p:nvSpPr>
          <p:cNvPr id="62" name="Text 52"/>
          <p:cNvSpPr/>
          <p:nvPr/>
        </p:nvSpPr>
        <p:spPr>
          <a:xfrm>
            <a:off x="731520" y="5705856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8B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Futuro — no activo:</a:t>
            </a:r>
            <a:endParaRPr lang="en-US" sz="1000" dirty="0"/>
          </a:p>
        </p:txBody>
      </p:sp>
      <p:sp>
        <p:nvSpPr>
          <p:cNvPr id="63" name="Text 53"/>
          <p:cNvSpPr/>
          <p:nvPr/>
        </p:nvSpPr>
        <p:spPr>
          <a:xfrm>
            <a:off x="2148840" y="5669280"/>
            <a:ext cx="9098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B5C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Auth y perfiles · mapa/geolocalización real · cron de GitHub Actions · compilación nativa con Capacitor si el proyecto lo requiere</a:t>
            </a:r>
            <a:endParaRPr lang="en-US" sz="1050" dirty="0"/>
          </a:p>
        </p:txBody>
      </p:sp>
      <p:sp>
        <p:nvSpPr>
          <p:cNvPr id="64" name="Text 54"/>
          <p:cNvSpPr/>
          <p:nvPr/>
        </p:nvSpPr>
        <p:spPr>
          <a:xfrm>
            <a:off x="530352" y="6473952"/>
            <a:ext cx="11109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F7F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Logotipos obtenidos desde activos oficiales o representaciones vectoriales de marca; no son imágenes generadas por IA.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Arquitectura general — Evento Cultural</dc:title>
  <dc:subject>Arquitectura verificada y stack tecnológico</dc:subject>
  <dc:creator>Proyecto Evento Cultural</dc:creator>
  <cp:lastModifiedBy>Proyecto Evento Cultural</cp:lastModifiedBy>
  <cp:revision>1</cp:revision>
  <dcterms:created xsi:type="dcterms:W3CDTF">2026-09-27T06:34:56Z</dcterms:created>
  <dcterms:modified xsi:type="dcterms:W3CDTF">2026-09-27T06:34:56Z</dcterms:modified>
</cp:coreProperties>
</file>